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6" r:id="rId2"/>
    <p:sldId id="353" r:id="rId3"/>
    <p:sldId id="355" r:id="rId4"/>
    <p:sldId id="356" r:id="rId5"/>
    <p:sldId id="357" r:id="rId6"/>
    <p:sldId id="312" r:id="rId7"/>
    <p:sldId id="347" r:id="rId8"/>
    <p:sldId id="348" r:id="rId9"/>
    <p:sldId id="349" r:id="rId10"/>
    <p:sldId id="350" r:id="rId11"/>
    <p:sldId id="351" r:id="rId12"/>
    <p:sldId id="317" r:id="rId13"/>
    <p:sldId id="318" r:id="rId14"/>
    <p:sldId id="337" r:id="rId15"/>
    <p:sldId id="320" r:id="rId16"/>
    <p:sldId id="319" r:id="rId17"/>
    <p:sldId id="285" r:id="rId18"/>
    <p:sldId id="257" r:id="rId19"/>
    <p:sldId id="258" r:id="rId20"/>
    <p:sldId id="261" r:id="rId21"/>
    <p:sldId id="262" r:id="rId22"/>
    <p:sldId id="321" r:id="rId23"/>
    <p:sldId id="264" r:id="rId24"/>
    <p:sldId id="324" r:id="rId25"/>
    <p:sldId id="270" r:id="rId26"/>
    <p:sldId id="327" r:id="rId27"/>
    <p:sldId id="276" r:id="rId28"/>
    <p:sldId id="341" r:id="rId29"/>
    <p:sldId id="307" r:id="rId30"/>
    <p:sldId id="277" r:id="rId31"/>
    <p:sldId id="328" r:id="rId32"/>
    <p:sldId id="278" r:id="rId33"/>
    <p:sldId id="330" r:id="rId34"/>
    <p:sldId id="286" r:id="rId35"/>
    <p:sldId id="331" r:id="rId36"/>
    <p:sldId id="282" r:id="rId37"/>
    <p:sldId id="334" r:id="rId38"/>
    <p:sldId id="292" r:id="rId39"/>
    <p:sldId id="335" r:id="rId40"/>
    <p:sldId id="295" r:id="rId41"/>
    <p:sldId id="336" r:id="rId42"/>
    <p:sldId id="297" r:id="rId43"/>
    <p:sldId id="310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6E6E5-5693-437A-8C8E-D8C1F5692A4B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0F2FC-51DF-493B-A452-AD4A7EC5D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649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0F2FC-51DF-493B-A452-AD4A7EC5DB5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601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0F2FC-51DF-493B-A452-AD4A7EC5DB5E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469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3110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70CC910-166F-455A-8887-32AED23B8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543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70CC910-166F-455A-8887-32AED23B8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325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99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70CC910-166F-455A-8887-32AED23B8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385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70CC910-166F-455A-8887-32AED23B8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483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370CC910-166F-455A-8887-32AED23B8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518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70CC910-166F-455A-8887-32AED23B8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784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370CC910-166F-455A-8887-32AED23B8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103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70CC910-166F-455A-8887-32AED23B8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90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370CC910-166F-455A-8887-32AED23B8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967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70CC910-166F-455A-8887-32AED23B8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399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70CC910-166F-455A-8887-32AED23B8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2499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70CC910-166F-455A-8887-32AED23B8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478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370CC910-166F-455A-8887-32AED23B8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684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776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B6172-C6B7-F729-D099-71215922F3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0AF7A-282D-814F-7A7A-6CD7ACF24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97D91-1C1C-4B7D-08EA-0176C760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1D57-57CD-4602-AFC5-DCD0C1184A2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E1680-E160-9EC0-78C7-97B67FAB7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7F2B4-A6DC-A66E-22B8-B108E2A2A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C910-166F-455A-8887-32AED23B8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8726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4A7AE-0412-9B20-1CE0-E9620A4B9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F563E-CC0C-AAF0-8CDE-36D149B17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79CED-809E-8277-E6AB-3E32ECEC9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1D57-57CD-4602-AFC5-DCD0C1184A2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0D723-5826-AE86-6A28-225BF1940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0077B-AE59-47DE-2690-F8230D10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C910-166F-455A-8887-32AED23B8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13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370CC910-166F-455A-8887-32AED23B8767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364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F26B43"/>
          </p15:clr>
        </p15:guide>
        <p15:guide id="2" pos="3840">
          <p15:clr>
            <a:srgbClr val="F26B43"/>
          </p15:clr>
        </p15:guide>
        <p15:guide id="3" pos="5640">
          <p15:clr>
            <a:srgbClr val="F26B43"/>
          </p15:clr>
        </p15:guide>
        <p15:guide id="4" pos="1656">
          <p15:clr>
            <a:srgbClr val="F26B43"/>
          </p15:clr>
        </p15:guide>
        <p15:guide id="5" pos="5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ruplagakshay/deploying-python-code-on-azure-function-v2-model-with-flex-consumption-plan-a-step-by-step-guide-66695a7cf096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DF090-7E01-1035-7F4C-9EA441110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662" y="1143182"/>
            <a:ext cx="6704688" cy="2057441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Capstone project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81D76800-874E-B58F-CCDC-036A9EF431B1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6532" r="6532"/>
          <a:stretch>
            <a:fillRect/>
          </a:stretch>
        </p:blipFill>
        <p:spPr>
          <a:xfrm>
            <a:off x="6919913" y="546100"/>
            <a:ext cx="4405312" cy="50673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72E28D-7966-DA51-1888-9F78F973D030}"/>
              </a:ext>
            </a:extLst>
          </p:cNvPr>
          <p:cNvSpPr txBox="1"/>
          <p:nvPr/>
        </p:nvSpPr>
        <p:spPr>
          <a:xfrm>
            <a:off x="1465006" y="4917354"/>
            <a:ext cx="6096000" cy="1550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Sayantan Saha 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Shubham Patnaik 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Sulekha Jash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131A8E-028F-88F9-840E-5AA52246AF31}"/>
              </a:ext>
            </a:extLst>
          </p:cNvPr>
          <p:cNvSpPr txBox="1"/>
          <p:nvPr/>
        </p:nvSpPr>
        <p:spPr>
          <a:xfrm>
            <a:off x="1465006" y="426375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Presented </a:t>
            </a:r>
            <a:r>
              <a:rPr lang="en-US" sz="32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</a:t>
            </a: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30348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E441403-F3D7-EDEF-3D66-B74DE0E1E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193"/>
            <a:ext cx="10515600" cy="1325563"/>
          </a:xfrm>
        </p:spPr>
        <p:txBody>
          <a:bodyPr/>
          <a:lstStyle/>
          <a:p>
            <a:r>
              <a:rPr lang="en-US" b="0" u="sng" dirty="0">
                <a:latin typeface="Algerian" panose="04020705040A02060702" pitchFamily="82" charset="0"/>
              </a:rPr>
              <a:t>Meet our team</a:t>
            </a:r>
            <a:endParaRPr lang="en-IN" b="0" u="sng" dirty="0">
              <a:latin typeface="Algerian" panose="04020705040A02060702" pitchFamily="82" charset="0"/>
            </a:endParaRPr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455884EF-43E6-3262-7DF5-7A43C8EC7916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50" t="11" r="17176" b="16397"/>
          <a:stretch>
            <a:fillRect/>
          </a:stretch>
        </p:blipFill>
        <p:spPr>
          <a:xfrm>
            <a:off x="1966047" y="2559050"/>
            <a:ext cx="2368550" cy="2101850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</p:pic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C208DEE1-98D5-22C1-006C-E3ABAE048FBD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3" t="23623" r="4089" b="39843"/>
          <a:stretch>
            <a:fillRect/>
          </a:stretch>
        </p:blipFill>
        <p:spPr>
          <a:xfrm>
            <a:off x="4645203" y="2558756"/>
            <a:ext cx="2367330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</p:pic>
      <p:pic>
        <p:nvPicPr>
          <p:cNvPr id="32" name="Picture Placeholder 31">
            <a:extLst>
              <a:ext uri="{FF2B5EF4-FFF2-40B4-BE49-F238E27FC236}">
                <a16:creationId xmlns:a16="http://schemas.microsoft.com/office/drawing/2014/main" id="{7CA7119B-26A3-C51E-3737-D2FC7D2AF260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" t="12" r="31" b="11248"/>
          <a:stretch>
            <a:fillRect/>
          </a:stretch>
        </p:blipFill>
        <p:spPr>
          <a:xfrm>
            <a:off x="7323139" y="2559050"/>
            <a:ext cx="2368550" cy="2101850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</p:pic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304F125-D97A-A583-6A3B-60F49678B94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236558" y="4491326"/>
            <a:ext cx="2098039" cy="506399"/>
          </a:xfrm>
        </p:spPr>
        <p:txBody>
          <a:bodyPr/>
          <a:lstStyle/>
          <a:p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Sayantan Saha 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8B80918-CEC6-6D18-0706-7F5E290E14DE}"/>
              </a:ext>
            </a:extLst>
          </p:cNvPr>
          <p:cNvSpPr txBox="1">
            <a:spLocks/>
          </p:cNvSpPr>
          <p:nvPr/>
        </p:nvSpPr>
        <p:spPr>
          <a:xfrm>
            <a:off x="4754019" y="4491326"/>
            <a:ext cx="2098039" cy="506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Sulekha Jash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DE743C32-1A51-B96D-21AB-A846CE2F5066}"/>
              </a:ext>
            </a:extLst>
          </p:cNvPr>
          <p:cNvSpPr txBox="1">
            <a:spLocks/>
          </p:cNvSpPr>
          <p:nvPr/>
        </p:nvSpPr>
        <p:spPr>
          <a:xfrm>
            <a:off x="7458394" y="4489310"/>
            <a:ext cx="2098039" cy="506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Shubham Patnaik </a:t>
            </a:r>
          </a:p>
        </p:txBody>
      </p:sp>
    </p:spTree>
    <p:extLst>
      <p:ext uri="{BB962C8B-B14F-4D97-AF65-F5344CB8AC3E}">
        <p14:creationId xmlns:p14="http://schemas.microsoft.com/office/powerpoint/2010/main" val="2415831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A069E32-B3A5-9E39-CE4D-5DF48EAF6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8"/>
          <a:stretch>
            <a:fillRect/>
          </a:stretch>
        </p:blipFill>
        <p:spPr>
          <a:xfrm>
            <a:off x="-2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598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EF0857F-B079-8E9D-C1FC-541F84948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9" b="9626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304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860BA7-CA6C-ECFE-3A51-EA728296FBF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57156" y="1051940"/>
            <a:ext cx="5162709" cy="420683"/>
          </a:xfrm>
        </p:spPr>
        <p:txBody>
          <a:bodyPr/>
          <a:lstStyle/>
          <a:p>
            <a:r>
              <a:rPr lang="en-IN" sz="2400" b="0" dirty="0">
                <a:latin typeface="Algerian" panose="04020705040A02060702" pitchFamily="82" charset="0"/>
              </a:rPr>
              <a:t>Project Overview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420D1F-410D-073D-1120-7139682269E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57156" y="1472623"/>
            <a:ext cx="8601709" cy="3060161"/>
          </a:xfrm>
        </p:spPr>
        <p:txBody>
          <a:bodyPr/>
          <a:lstStyle/>
          <a:p>
            <a:r>
              <a:rPr lang="en-IN" sz="2000" dirty="0">
                <a:latin typeface="Bodoni MT" panose="02070603080606020203" pitchFamily="18" charset="0"/>
              </a:rPr>
              <a:t>This project </a:t>
            </a:r>
            <a:r>
              <a:rPr lang="en-IN" sz="2000" dirty="0" err="1">
                <a:latin typeface="Bodoni MT" panose="02070603080606020203" pitchFamily="18" charset="0"/>
              </a:rPr>
              <a:t>analyzes</a:t>
            </a:r>
            <a:r>
              <a:rPr lang="en-IN" sz="2000" dirty="0">
                <a:latin typeface="Bodoni MT" panose="02070603080606020203" pitchFamily="18" charset="0"/>
              </a:rPr>
              <a:t> HR employee data using Python to understand employee demographics, salary, performance, promotions, and attrition. The analysis uses data visualization and statistical techniques to identify patterns that support better HR decision-making.</a:t>
            </a:r>
          </a:p>
          <a:p>
            <a:endParaRPr lang="en-IN" sz="2000" dirty="0">
              <a:latin typeface="Bodoni MT" panose="02070603080606020203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2F0189-14BC-5E12-301D-B78EA9B7E71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528021" y="3430907"/>
            <a:ext cx="5162709" cy="420683"/>
          </a:xfrm>
        </p:spPr>
        <p:txBody>
          <a:bodyPr/>
          <a:lstStyle/>
          <a:p>
            <a:r>
              <a:rPr lang="en-IN" sz="2400" b="0" dirty="0">
                <a:latin typeface="Algerian" panose="04020705040A02060702" pitchFamily="82" charset="0"/>
              </a:rPr>
              <a:t>Project Objectives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64FB9E3-9028-996E-8985-F52154E190E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528022" y="3884135"/>
            <a:ext cx="6406822" cy="2847899"/>
          </a:xfrm>
        </p:spPr>
        <p:txBody>
          <a:bodyPr/>
          <a:lstStyle/>
          <a:p>
            <a:r>
              <a:rPr lang="en-IN" sz="2000" dirty="0" err="1">
                <a:latin typeface="Bodoni MT" panose="02070603080606020203" pitchFamily="18" charset="0"/>
              </a:rPr>
              <a:t>Analyze</a:t>
            </a:r>
            <a:r>
              <a:rPr lang="en-IN" sz="2000" dirty="0">
                <a:latin typeface="Bodoni MT" panose="02070603080606020203" pitchFamily="18" charset="0"/>
              </a:rPr>
              <a:t> employee demographics and salary trends.</a:t>
            </a:r>
          </a:p>
          <a:p>
            <a:r>
              <a:rPr lang="en-IN" sz="2000" dirty="0">
                <a:latin typeface="Bodoni MT" panose="02070603080606020203" pitchFamily="18" charset="0"/>
              </a:rPr>
              <a:t>Measure and understand employee attrition.</a:t>
            </a:r>
          </a:p>
          <a:p>
            <a:r>
              <a:rPr lang="en-IN" sz="2000" dirty="0">
                <a:latin typeface="Bodoni MT" panose="02070603080606020203" pitchFamily="18" charset="0"/>
              </a:rPr>
              <a:t>Identify factors affecting promotions and retention.</a:t>
            </a:r>
          </a:p>
          <a:p>
            <a:r>
              <a:rPr lang="en-IN" sz="2000" dirty="0">
                <a:latin typeface="Bodoni MT" panose="02070603080606020203" pitchFamily="18" charset="0"/>
              </a:rPr>
              <a:t>Explore relationships among HR variables using visualizations.</a:t>
            </a:r>
          </a:p>
          <a:p>
            <a:r>
              <a:rPr lang="en-IN" sz="2000" dirty="0">
                <a:latin typeface="Bodoni MT" panose="02070603080606020203" pitchFamily="18" charset="0"/>
              </a:rPr>
              <a:t>Provide insights to support data-driven HR decisions.</a:t>
            </a:r>
          </a:p>
          <a:p>
            <a:endParaRPr lang="en-IN" sz="2000" dirty="0">
              <a:latin typeface="Bodoni MT" panose="02070603080606020203" pitchFamily="18" charset="0"/>
            </a:endParaRPr>
          </a:p>
        </p:txBody>
      </p:sp>
      <p:pic>
        <p:nvPicPr>
          <p:cNvPr id="15" name="Picture Placeholder 14" descr="Bullseye with solid fill">
            <a:extLst>
              <a:ext uri="{FF2B5EF4-FFF2-40B4-BE49-F238E27FC236}">
                <a16:creationId xmlns:a16="http://schemas.microsoft.com/office/drawing/2014/main" id="{B6655BFB-4153-BA2F-26B6-6A35DD67A68C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197" r="5197"/>
          <a:stretch>
            <a:fillRect/>
          </a:stretch>
        </p:blipFill>
        <p:spPr>
          <a:xfrm>
            <a:off x="3569676" y="4201829"/>
            <a:ext cx="1599453" cy="1784967"/>
          </a:xfrm>
        </p:spPr>
      </p:pic>
      <p:pic>
        <p:nvPicPr>
          <p:cNvPr id="17" name="Picture Placeholder 16" descr="Internet with solid fill">
            <a:extLst>
              <a:ext uri="{FF2B5EF4-FFF2-40B4-BE49-F238E27FC236}">
                <a16:creationId xmlns:a16="http://schemas.microsoft.com/office/drawing/2014/main" id="{95D37439-5DC4-5102-B30B-D1E41C0F4E2C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61" r="2661"/>
          <a:stretch>
            <a:fillRect/>
          </a:stretch>
        </p:blipFill>
        <p:spPr>
          <a:xfrm>
            <a:off x="9338436" y="1221149"/>
            <a:ext cx="1607932" cy="1698320"/>
          </a:xfr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3B09677-F07A-481A-7BB0-68C61489BCC6}"/>
              </a:ext>
            </a:extLst>
          </p:cNvPr>
          <p:cNvSpPr txBox="1"/>
          <p:nvPr/>
        </p:nvSpPr>
        <p:spPr>
          <a:xfrm>
            <a:off x="353961" y="186492"/>
            <a:ext cx="11434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u="sng" dirty="0">
                <a:effectLst/>
                <a:latin typeface="Algerian" panose="04020705040A020607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Project Overview And Objective </a:t>
            </a:r>
            <a:endParaRPr lang="en-IN" sz="2800" b="1" u="sng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12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3BBCD2-E8EB-6D03-F521-11656F8EF895}"/>
              </a:ext>
            </a:extLst>
          </p:cNvPr>
          <p:cNvPicPr>
            <a:picLocks noGrp="1" noChangeAspect="1"/>
          </p:cNvPicPr>
          <p:nvPr>
            <p:ph type="tbl" sz="quarter" idx="2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" t="1905" r="38167" b="78055"/>
          <a:stretch>
            <a:fillRect/>
          </a:stretch>
        </p:blipFill>
        <p:spPr>
          <a:xfrm>
            <a:off x="212550" y="406399"/>
            <a:ext cx="11766897" cy="1346201"/>
          </a:xfrm>
          <a:prstGeom prst="rect">
            <a:avLst/>
          </a:prstGeom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AF5EDB74-8B69-051B-6E44-BC3D57BCA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" t="76052" r="903"/>
          <a:stretch>
            <a:fillRect/>
          </a:stretch>
        </p:blipFill>
        <p:spPr>
          <a:xfrm>
            <a:off x="212551" y="5016500"/>
            <a:ext cx="11809751" cy="1003300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7DA7389-E149-481E-5126-6FE71BD4C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" t="25285" r="20845" b="25953"/>
          <a:stretch>
            <a:fillRect/>
          </a:stretch>
        </p:blipFill>
        <p:spPr>
          <a:xfrm>
            <a:off x="212551" y="2463800"/>
            <a:ext cx="11766898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47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5">
            <a:extLst>
              <a:ext uri="{FF2B5EF4-FFF2-40B4-BE49-F238E27FC236}">
                <a16:creationId xmlns:a16="http://schemas.microsoft.com/office/drawing/2014/main" id="{319F76AE-58BF-564B-CA67-B592408BC617}"/>
              </a:ext>
            </a:extLst>
          </p:cNvPr>
          <p:cNvSpPr txBox="1"/>
          <p:nvPr/>
        </p:nvSpPr>
        <p:spPr>
          <a:xfrm>
            <a:off x="2696497" y="8647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306"/>
              </a:spcBef>
              <a:spcAft>
                <a:spcPts val="1742"/>
              </a:spcAft>
              <a:buNone/>
            </a:pP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age of employees?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02EFAD3-1ACC-9D49-119B-57855DB9D426}"/>
              </a:ext>
            </a:extLst>
          </p:cNvPr>
          <p:cNvSpPr txBox="1"/>
          <p:nvPr/>
        </p:nvSpPr>
        <p:spPr>
          <a:xfrm>
            <a:off x="1332271" y="2764704"/>
            <a:ext cx="27284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2000" b="0" i="0" dirty="0">
                <a:effectLst/>
                <a:latin typeface="Algerian" panose="04020705040A02060702" pitchFamily="82" charset="0"/>
              </a:rPr>
              <a:t>Analysis - </a:t>
            </a:r>
            <a:r>
              <a:rPr lang="en-IN" sz="2000" b="0" i="0" dirty="0">
                <a:effectLst/>
                <a:latin typeface="Bodoni MT" panose="02070603080606020203" pitchFamily="18" charset="0"/>
              </a:rPr>
              <a:t>Univariate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672598A-1BB7-D079-2E18-50FB1EDCF1B2}"/>
              </a:ext>
            </a:extLst>
          </p:cNvPr>
          <p:cNvSpPr txBox="1"/>
          <p:nvPr/>
        </p:nvSpPr>
        <p:spPr>
          <a:xfrm>
            <a:off x="5161935" y="1235492"/>
            <a:ext cx="64106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2613"/>
              </a:spcBef>
              <a:spcAft>
                <a:spcPts val="1742"/>
              </a:spcAft>
              <a:buNone/>
            </a:pPr>
            <a:r>
              <a:rPr lang="en-IN" sz="2000" b="0" i="0" dirty="0">
                <a:effectLst/>
                <a:latin typeface="Algerian" panose="04020705040A02060702" pitchFamily="82" charset="0"/>
              </a:rPr>
              <a:t>Business Insight</a:t>
            </a:r>
            <a:br>
              <a:rPr lang="en-IN" sz="2000" b="0" i="0" dirty="0">
                <a:effectLst/>
                <a:latin typeface="Algerian" panose="04020705040A02060702" pitchFamily="82" charset="0"/>
              </a:rPr>
            </a:br>
            <a:r>
              <a:rPr lang="en-IN" sz="2000" b="0" i="0" dirty="0">
                <a:effectLst/>
                <a:latin typeface="Bodoni MT" panose="02070603080606020203" pitchFamily="18" charset="0"/>
              </a:rPr>
              <a:t>Based on my analysis, the average age represents the overall workforce profile and helps understand the organization's employee demographics.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C7207DA-7FD7-4BFF-9D76-56F7EA8650CE}"/>
              </a:ext>
            </a:extLst>
          </p:cNvPr>
          <p:cNvSpPr txBox="1"/>
          <p:nvPr/>
        </p:nvSpPr>
        <p:spPr>
          <a:xfrm>
            <a:off x="5240593" y="2809050"/>
            <a:ext cx="75511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2613"/>
              </a:spcBef>
              <a:spcAft>
                <a:spcPts val="1742"/>
              </a:spcAft>
              <a:buNone/>
            </a:pPr>
            <a:r>
              <a:rPr lang="en-IN" sz="2000" b="0" i="0" dirty="0">
                <a:effectLst/>
                <a:latin typeface="Algerian" panose="04020705040A02060702" pitchFamily="82" charset="0"/>
              </a:rPr>
              <a:t>Business Conclusion</a:t>
            </a:r>
            <a:br>
              <a:rPr lang="en-IN" sz="2000" b="0" i="0" dirty="0">
                <a:effectLst/>
                <a:latin typeface="Algerian" panose="04020705040A02060702" pitchFamily="82" charset="0"/>
              </a:rPr>
            </a:br>
            <a:r>
              <a:rPr lang="en-IN" sz="2000" b="0" i="0" dirty="0">
                <a:effectLst/>
                <a:latin typeface="Bodoni MT" panose="02070603080606020203" pitchFamily="18" charset="0"/>
              </a:rPr>
              <a:t>I conclude that knowing the average employee age supports workforce planning, recruitment, and succession planning.</a:t>
            </a:r>
          </a:p>
        </p:txBody>
      </p:sp>
      <p:pic>
        <p:nvPicPr>
          <p:cNvPr id="124" name="Content Placeholder 4">
            <a:extLst>
              <a:ext uri="{FF2B5EF4-FFF2-40B4-BE49-F238E27FC236}">
                <a16:creationId xmlns:a16="http://schemas.microsoft.com/office/drawing/2014/main" id="{38060440-65B9-001A-3557-D0D7817E1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" t="7972" r="70196" b="73047"/>
          <a:stretch>
            <a:fillRect/>
          </a:stretch>
        </p:blipFill>
        <p:spPr>
          <a:xfrm>
            <a:off x="4296695" y="4986422"/>
            <a:ext cx="6410634" cy="132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28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CDDB05-A806-140C-8A50-FFCA979A3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" t="38520" r="35227" b="-1"/>
          <a:stretch>
            <a:fillRect/>
          </a:stretch>
        </p:blipFill>
        <p:spPr>
          <a:xfrm>
            <a:off x="4424515" y="4290645"/>
            <a:ext cx="7671235" cy="23302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81D53E-75A7-CD24-FC1F-874E403B2462}"/>
              </a:ext>
            </a:extLst>
          </p:cNvPr>
          <p:cNvSpPr txBox="1"/>
          <p:nvPr/>
        </p:nvSpPr>
        <p:spPr>
          <a:xfrm>
            <a:off x="2708787" y="118429"/>
            <a:ext cx="8155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306"/>
              </a:spcBef>
              <a:spcAft>
                <a:spcPts val="1742"/>
              </a:spcAft>
              <a:buNone/>
            </a:pP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monthly income by job role?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8E0744-F23B-3427-02CB-11473422F6C4}"/>
              </a:ext>
            </a:extLst>
          </p:cNvPr>
          <p:cNvSpPr txBox="1"/>
          <p:nvPr/>
        </p:nvSpPr>
        <p:spPr>
          <a:xfrm>
            <a:off x="1386349" y="2778763"/>
            <a:ext cx="2644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2000" b="0" i="0" dirty="0">
                <a:effectLst/>
                <a:latin typeface="Algerian" panose="04020705040A02060702" pitchFamily="82" charset="0"/>
              </a:rPr>
              <a:t>Analysis - </a:t>
            </a:r>
            <a:r>
              <a:rPr lang="en-IN" sz="2000" b="0" i="0" dirty="0">
                <a:effectLst/>
                <a:latin typeface="Bodoni MT" panose="02070603080606020203" pitchFamily="18" charset="0"/>
              </a:rPr>
              <a:t>Bivariate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FB501F-AF56-ACDD-E0C5-3341757EF482}"/>
              </a:ext>
            </a:extLst>
          </p:cNvPr>
          <p:cNvSpPr txBox="1"/>
          <p:nvPr/>
        </p:nvSpPr>
        <p:spPr>
          <a:xfrm>
            <a:off x="5122607" y="923133"/>
            <a:ext cx="65679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2613"/>
              </a:spcBef>
              <a:spcAft>
                <a:spcPts val="1742"/>
              </a:spcAft>
              <a:buNone/>
            </a:pPr>
            <a:r>
              <a:rPr lang="en-IN" sz="2000" b="0" i="0" dirty="0">
                <a:effectLst/>
                <a:latin typeface="Algerian" panose="04020705040A02060702" pitchFamily="82" charset="0"/>
              </a:rPr>
              <a:t>Business Insight</a:t>
            </a:r>
            <a:br>
              <a:rPr lang="en-IN" sz="2000" b="0" i="0" dirty="0">
                <a:effectLst/>
                <a:latin typeface="Bodoni MT" panose="02070603080606020203" pitchFamily="18" charset="0"/>
              </a:rPr>
            </a:br>
            <a:r>
              <a:rPr lang="en-IN" sz="2000" b="0" i="0" dirty="0">
                <a:effectLst/>
                <a:latin typeface="Bodoni MT" panose="02070603080606020203" pitchFamily="18" charset="0"/>
              </a:rPr>
              <a:t>My analysis shows that average monthly income varies across different job roles based on responsibilities and experience.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F86F24-DCCF-040E-73B5-7D019ABF3599}"/>
              </a:ext>
            </a:extLst>
          </p:cNvPr>
          <p:cNvSpPr txBox="1"/>
          <p:nvPr/>
        </p:nvSpPr>
        <p:spPr>
          <a:xfrm>
            <a:off x="4385187" y="2470985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2613"/>
              </a:spcBef>
              <a:spcAft>
                <a:spcPts val="1742"/>
              </a:spcAft>
              <a:buNone/>
            </a:pPr>
            <a:r>
              <a:rPr lang="en-IN" sz="2000" b="0" i="0" dirty="0">
                <a:effectLst/>
                <a:latin typeface="Algerian" panose="04020705040A02060702" pitchFamily="82" charset="0"/>
              </a:rPr>
              <a:t>Business Conclusion</a:t>
            </a:r>
            <a:br>
              <a:rPr lang="en-IN" sz="2000" b="0" i="0" dirty="0">
                <a:effectLst/>
                <a:latin typeface="Bodoni MT" panose="02070603080606020203" pitchFamily="18" charset="0"/>
              </a:rPr>
            </a:br>
            <a:r>
              <a:rPr lang="en-IN" sz="2000" b="0" i="0" dirty="0">
                <a:effectLst/>
                <a:latin typeface="Bodoni MT" panose="02070603080606020203" pitchFamily="18" charset="0"/>
              </a:rPr>
              <a:t>I conclude that salary differences across job roles reflect organizational hierarchy and compensation policies.</a:t>
            </a:r>
          </a:p>
        </p:txBody>
      </p:sp>
    </p:spTree>
    <p:extLst>
      <p:ext uri="{BB962C8B-B14F-4D97-AF65-F5344CB8AC3E}">
        <p14:creationId xmlns:p14="http://schemas.microsoft.com/office/powerpoint/2010/main" val="1897157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DD806A2-9F75-0DC9-30A9-4AEB8E2BB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" t="7829" r="35284" b="29615"/>
          <a:stretch>
            <a:fillRect/>
          </a:stretch>
        </p:blipFill>
        <p:spPr>
          <a:xfrm>
            <a:off x="4418617" y="4019341"/>
            <a:ext cx="7619309" cy="26614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26000E-1BF7-DC88-0634-0B92667A3821}"/>
              </a:ext>
            </a:extLst>
          </p:cNvPr>
          <p:cNvSpPr txBox="1"/>
          <p:nvPr/>
        </p:nvSpPr>
        <p:spPr>
          <a:xfrm>
            <a:off x="2716162" y="177210"/>
            <a:ext cx="70177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306"/>
              </a:spcBef>
              <a:spcAft>
                <a:spcPts val="1742"/>
              </a:spcAft>
              <a:buNone/>
            </a:pP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gender has the highest average salary?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96A9BB-BCD5-1737-D678-BCB5AD790F2D}"/>
              </a:ext>
            </a:extLst>
          </p:cNvPr>
          <p:cNvSpPr txBox="1"/>
          <p:nvPr/>
        </p:nvSpPr>
        <p:spPr>
          <a:xfrm>
            <a:off x="1317522" y="2557774"/>
            <a:ext cx="27432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2000" b="0" i="0" dirty="0">
                <a:effectLst/>
                <a:latin typeface="Algerian" panose="04020705040A02060702" pitchFamily="82" charset="0"/>
              </a:rPr>
              <a:t>Analysis - </a:t>
            </a:r>
            <a:r>
              <a:rPr lang="en-IN" sz="2000" b="0" i="0" dirty="0">
                <a:effectLst/>
                <a:latin typeface="Bodoni MT" panose="02070603080606020203" pitchFamily="18" charset="0"/>
              </a:rPr>
              <a:t>Bivariate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107871-0960-B714-26B7-D03EA40B8164}"/>
              </a:ext>
            </a:extLst>
          </p:cNvPr>
          <p:cNvSpPr txBox="1"/>
          <p:nvPr/>
        </p:nvSpPr>
        <p:spPr>
          <a:xfrm>
            <a:off x="5125065" y="980721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2613"/>
              </a:spcBef>
              <a:spcAft>
                <a:spcPts val="1742"/>
              </a:spcAft>
              <a:buNone/>
            </a:pPr>
            <a:r>
              <a:rPr lang="en-IN" sz="2000" b="0" i="0" dirty="0">
                <a:effectLst/>
                <a:latin typeface="Algerian" panose="04020705040A02060702" pitchFamily="82" charset="0"/>
              </a:rPr>
              <a:t>Business Insight</a:t>
            </a:r>
            <a:br>
              <a:rPr lang="en-IN" sz="2000" b="0" i="0" dirty="0">
                <a:effectLst/>
                <a:latin typeface="Algerian" panose="04020705040A02060702" pitchFamily="82" charset="0"/>
              </a:rPr>
            </a:br>
            <a:r>
              <a:rPr lang="en-IN" sz="2000" b="0" i="0" dirty="0">
                <a:effectLst/>
                <a:latin typeface="Bodoni MT" panose="02070603080606020203" pitchFamily="18" charset="0"/>
              </a:rPr>
              <a:t>Based on my analysis, I compared the average salary across genders to understand salary distribution.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4A84A2-85C2-BCF4-755E-6D7CC0740E0A}"/>
              </a:ext>
            </a:extLst>
          </p:cNvPr>
          <p:cNvSpPr txBox="1"/>
          <p:nvPr/>
        </p:nvSpPr>
        <p:spPr>
          <a:xfrm>
            <a:off x="4404851" y="2249997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2613"/>
              </a:spcBef>
              <a:spcAft>
                <a:spcPts val="1742"/>
              </a:spcAft>
              <a:buNone/>
            </a:pPr>
            <a:r>
              <a:rPr lang="en-IN" sz="2000" b="0" i="0" dirty="0">
                <a:effectLst/>
                <a:latin typeface="Algerian" panose="04020705040A02060702" pitchFamily="82" charset="0"/>
              </a:rPr>
              <a:t>Business Conclusion</a:t>
            </a:r>
            <a:br>
              <a:rPr lang="en-IN" sz="2000" b="0" i="0" dirty="0">
                <a:effectLst/>
                <a:latin typeface="Algerian" panose="04020705040A02060702" pitchFamily="82" charset="0"/>
              </a:rPr>
            </a:br>
            <a:r>
              <a:rPr lang="en-IN" sz="2000" b="0" i="0" dirty="0">
                <a:effectLst/>
                <a:latin typeface="Bodoni MT" panose="02070603080606020203" pitchFamily="18" charset="0"/>
              </a:rPr>
              <a:t>I conclude that this comparison helps evaluate salary fairness and supports equal pay initiatives.</a:t>
            </a:r>
          </a:p>
        </p:txBody>
      </p:sp>
    </p:spTree>
    <p:extLst>
      <p:ext uri="{BB962C8B-B14F-4D97-AF65-F5344CB8AC3E}">
        <p14:creationId xmlns:p14="http://schemas.microsoft.com/office/powerpoint/2010/main" val="3651885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61BE31-F212-9529-4F3D-682143693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" t="78285" r="49251"/>
          <a:stretch>
            <a:fillRect/>
          </a:stretch>
        </p:blipFill>
        <p:spPr>
          <a:xfrm>
            <a:off x="4154653" y="4871449"/>
            <a:ext cx="7913924" cy="1224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F28527-6F3B-AB51-03FC-4F5780D69811}"/>
              </a:ext>
            </a:extLst>
          </p:cNvPr>
          <p:cNvSpPr txBox="1"/>
          <p:nvPr/>
        </p:nvSpPr>
        <p:spPr>
          <a:xfrm flipH="1">
            <a:off x="2684204" y="153280"/>
            <a:ext cx="8475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306"/>
              </a:spcBef>
              <a:spcAft>
                <a:spcPts val="1742"/>
              </a:spcAft>
              <a:buNone/>
            </a:pP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many employees have left the company (Attrition)?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5B0D01-7541-8491-B7D0-4ECD63BAEAE0}"/>
              </a:ext>
            </a:extLst>
          </p:cNvPr>
          <p:cNvSpPr txBox="1"/>
          <p:nvPr/>
        </p:nvSpPr>
        <p:spPr>
          <a:xfrm>
            <a:off x="1288026" y="2720618"/>
            <a:ext cx="27923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2000" b="0" i="0" dirty="0">
                <a:effectLst/>
                <a:latin typeface="Algerian" panose="04020705040A02060702" pitchFamily="82" charset="0"/>
              </a:rPr>
              <a:t>Analysis - </a:t>
            </a:r>
            <a:r>
              <a:rPr lang="en-IN" sz="2000" b="0" i="0" dirty="0">
                <a:effectLst/>
                <a:latin typeface="Bodoni MT" panose="02070603080606020203" pitchFamily="18" charset="0"/>
              </a:rPr>
              <a:t>Univariate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8C22BA-7831-B541-6474-520184959D25}"/>
              </a:ext>
            </a:extLst>
          </p:cNvPr>
          <p:cNvSpPr txBox="1"/>
          <p:nvPr/>
        </p:nvSpPr>
        <p:spPr>
          <a:xfrm>
            <a:off x="5063615" y="970889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2613"/>
              </a:spcBef>
              <a:spcAft>
                <a:spcPts val="1742"/>
              </a:spcAft>
              <a:buNone/>
            </a:pPr>
            <a:r>
              <a:rPr lang="en-IN" sz="2000" b="0" i="0" dirty="0">
                <a:effectLst/>
                <a:latin typeface="Algerian" panose="04020705040A02060702" pitchFamily="82" charset="0"/>
              </a:rPr>
              <a:t>Business Insight</a:t>
            </a:r>
            <a:br>
              <a:rPr lang="en-IN" sz="2000" b="0" i="0" dirty="0">
                <a:effectLst/>
                <a:latin typeface="Bodoni MT" panose="02070603080606020203" pitchFamily="18" charset="0"/>
              </a:rPr>
            </a:br>
            <a:r>
              <a:rPr lang="en-IN" sz="2000" b="0" i="0" dirty="0">
                <a:effectLst/>
                <a:latin typeface="Bodoni MT" panose="02070603080606020203" pitchFamily="18" charset="0"/>
              </a:rPr>
              <a:t>My analysis identifies the total number of employees who have left the organization.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03A851-CB7F-9E98-1FD8-C13403D035E0}"/>
              </a:ext>
            </a:extLst>
          </p:cNvPr>
          <p:cNvSpPr txBox="1"/>
          <p:nvPr/>
        </p:nvSpPr>
        <p:spPr>
          <a:xfrm>
            <a:off x="4404852" y="2573328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2613"/>
              </a:spcBef>
              <a:spcAft>
                <a:spcPts val="1742"/>
              </a:spcAft>
              <a:buNone/>
            </a:pPr>
            <a:r>
              <a:rPr lang="en-IN" sz="2000" b="0" i="0" dirty="0">
                <a:effectLst/>
                <a:latin typeface="Algerian" panose="04020705040A02060702" pitchFamily="82" charset="0"/>
              </a:rPr>
              <a:t>Business Conclusion</a:t>
            </a:r>
            <a:br>
              <a:rPr lang="en-IN" sz="2000" b="0" i="0" dirty="0">
                <a:effectLst/>
                <a:latin typeface="Bodoni MT" panose="02070603080606020203" pitchFamily="18" charset="0"/>
              </a:rPr>
            </a:br>
            <a:r>
              <a:rPr lang="en-IN" sz="2000" b="0" i="0" dirty="0">
                <a:effectLst/>
                <a:latin typeface="Bodoni MT" panose="02070603080606020203" pitchFamily="18" charset="0"/>
              </a:rPr>
              <a:t>I conclude that monitoring employee attrition is essential for improving workforce stability.</a:t>
            </a:r>
          </a:p>
        </p:txBody>
      </p:sp>
    </p:spTree>
    <p:extLst>
      <p:ext uri="{BB962C8B-B14F-4D97-AF65-F5344CB8AC3E}">
        <p14:creationId xmlns:p14="http://schemas.microsoft.com/office/powerpoint/2010/main" val="854485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Woman bonding with child">
            <a:extLst>
              <a:ext uri="{FF2B5EF4-FFF2-40B4-BE49-F238E27FC236}">
                <a16:creationId xmlns:a16="http://schemas.microsoft.com/office/drawing/2014/main" id="{608826EB-7DD8-E78F-665D-7DBA7282943E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r="20664"/>
          <a:stretch>
            <a:fillRect/>
          </a:stretch>
        </p:blipFill>
        <p:spPr/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85E091-676C-7573-7EA7-B9F2A40A79EB}"/>
              </a:ext>
            </a:extLst>
          </p:cNvPr>
          <p:cNvSpPr txBox="1"/>
          <p:nvPr/>
        </p:nvSpPr>
        <p:spPr>
          <a:xfrm>
            <a:off x="2731350" y="963275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306"/>
              </a:spcBef>
              <a:spcAft>
                <a:spcPts val="1742"/>
              </a:spcAft>
              <a:buNone/>
            </a:pP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work-life balance score?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E208D5-808F-DE39-8C2C-56A28FF217BD}"/>
              </a:ext>
            </a:extLst>
          </p:cNvPr>
          <p:cNvSpPr txBox="1"/>
          <p:nvPr/>
        </p:nvSpPr>
        <p:spPr>
          <a:xfrm>
            <a:off x="2731350" y="1910367"/>
            <a:ext cx="6100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2000" b="0" i="0" dirty="0">
                <a:effectLst/>
                <a:latin typeface="Algerian" panose="04020705040A02060702" pitchFamily="82" charset="0"/>
              </a:rPr>
              <a:t>Analysis - </a:t>
            </a:r>
            <a:r>
              <a:rPr lang="en-IN" sz="2000" b="0" i="0" dirty="0">
                <a:effectLst/>
                <a:latin typeface="Bodoni MT" panose="02070603080606020203" pitchFamily="18" charset="0"/>
              </a:rPr>
              <a:t>Univariate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3EB749-9A8E-DDDD-0890-5107231FA29F}"/>
              </a:ext>
            </a:extLst>
          </p:cNvPr>
          <p:cNvSpPr txBox="1"/>
          <p:nvPr/>
        </p:nvSpPr>
        <p:spPr>
          <a:xfrm>
            <a:off x="3674530" y="2830610"/>
            <a:ext cx="6100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2613"/>
              </a:spcBef>
              <a:spcAft>
                <a:spcPts val="1742"/>
              </a:spcAft>
              <a:buNone/>
            </a:pPr>
            <a:r>
              <a:rPr lang="en-IN" sz="2000" b="0" i="0" dirty="0">
                <a:effectLst/>
                <a:latin typeface="Algerian" panose="04020705040A02060702" pitchFamily="82" charset="0"/>
              </a:rPr>
              <a:t>Business Insight</a:t>
            </a:r>
            <a:br>
              <a:rPr lang="en-IN" sz="2000" b="0" i="0" dirty="0">
                <a:effectLst/>
                <a:latin typeface="Bodoni MT" panose="02070603080606020203" pitchFamily="18" charset="0"/>
              </a:rPr>
            </a:br>
            <a:r>
              <a:rPr lang="en-IN" sz="2000" b="0" i="0" dirty="0">
                <a:effectLst/>
                <a:latin typeface="Bodoni MT" panose="02070603080606020203" pitchFamily="18" charset="0"/>
              </a:rPr>
              <a:t>The average work-life balance score reflects employees' overall perception of balancing work and personal life.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CF8E67-D1A8-4ADC-C5B1-54C4CB054C14}"/>
              </a:ext>
            </a:extLst>
          </p:cNvPr>
          <p:cNvSpPr txBox="1"/>
          <p:nvPr/>
        </p:nvSpPr>
        <p:spPr>
          <a:xfrm>
            <a:off x="2647336" y="4621612"/>
            <a:ext cx="6100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2613"/>
              </a:spcBef>
              <a:spcAft>
                <a:spcPts val="1742"/>
              </a:spcAft>
              <a:buNone/>
            </a:pPr>
            <a:r>
              <a:rPr lang="en-IN" sz="2000" b="0" i="0" dirty="0">
                <a:effectLst/>
                <a:latin typeface="Algerian" panose="04020705040A02060702" pitchFamily="82" charset="0"/>
              </a:rPr>
              <a:t>Business Conclusion</a:t>
            </a:r>
            <a:br>
              <a:rPr lang="en-IN" sz="2000" b="0" i="0" dirty="0">
                <a:effectLst/>
                <a:latin typeface="Bodoni MT" panose="02070603080606020203" pitchFamily="18" charset="0"/>
              </a:rPr>
            </a:br>
            <a:r>
              <a:rPr lang="en-IN" sz="2000" b="0" i="0" dirty="0">
                <a:effectLst/>
                <a:latin typeface="Bodoni MT" panose="02070603080606020203" pitchFamily="18" charset="0"/>
              </a:rPr>
              <a:t>I conclude that maintaining a healthy work-life balance improves employee satisfaction and productivity.</a:t>
            </a:r>
          </a:p>
        </p:txBody>
      </p:sp>
    </p:spTree>
    <p:extLst>
      <p:ext uri="{BB962C8B-B14F-4D97-AF65-F5344CB8AC3E}">
        <p14:creationId xmlns:p14="http://schemas.microsoft.com/office/powerpoint/2010/main" val="3328361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8644D1-5737-2D38-5B0B-DC18F9A08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" t="1239" b="78820"/>
          <a:stretch>
            <a:fillRect/>
          </a:stretch>
        </p:blipFill>
        <p:spPr>
          <a:xfrm>
            <a:off x="356346" y="242671"/>
            <a:ext cx="7949453" cy="1359985"/>
          </a:xfrm>
          <a:prstGeom prst="rect">
            <a:avLst/>
          </a:prstGeom>
        </p:spPr>
      </p:pic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2B6430C1-376D-A922-0151-CDAA0543B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" t="23487" b="42633"/>
          <a:stretch>
            <a:fillRect/>
          </a:stretch>
        </p:blipFill>
        <p:spPr>
          <a:xfrm>
            <a:off x="356346" y="1573161"/>
            <a:ext cx="7949453" cy="2310581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F91E4EF-E3FF-75D9-F7D5-149DE644A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" t="59673" b="814"/>
          <a:stretch>
            <a:fillRect/>
          </a:stretch>
        </p:blipFill>
        <p:spPr>
          <a:xfrm>
            <a:off x="356346" y="3814917"/>
            <a:ext cx="7949453" cy="269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065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CB802B-32EF-DC79-B870-C322DDC798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8859" y="589528"/>
            <a:ext cx="8734281" cy="567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90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339F1-6F35-2CCF-07D9-58D4F2F64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Placeholder 54" descr="City lights focused in magnifying glass">
            <a:extLst>
              <a:ext uri="{FF2B5EF4-FFF2-40B4-BE49-F238E27FC236}">
                <a16:creationId xmlns:a16="http://schemas.microsoft.com/office/drawing/2014/main" id="{F05E5BB9-DFFF-0C63-3C3E-A6DDA428F264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9" r="20689"/>
          <a:stretch/>
        </p:blipFill>
        <p:spPr>
          <a:xfrm>
            <a:off x="1739009" y="2325391"/>
            <a:ext cx="1886360" cy="214466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D0A258-12BC-2084-9FDE-1493BE54237B}"/>
              </a:ext>
            </a:extLst>
          </p:cNvPr>
          <p:cNvSpPr txBox="1"/>
          <p:nvPr/>
        </p:nvSpPr>
        <p:spPr>
          <a:xfrm>
            <a:off x="2682189" y="1014528"/>
            <a:ext cx="86445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the distribution of monthly income</a:t>
            </a:r>
          </a:p>
          <a:p>
            <a:pPr marL="0" indent="0">
              <a:buNone/>
            </a:pPr>
            <a:endParaRPr lang="en-IN" dirty="0">
              <a:latin typeface="Bodoni MT" panose="0207060308060602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E2D170-B3B9-9E03-E579-063ECF871DE6}"/>
              </a:ext>
            </a:extLst>
          </p:cNvPr>
          <p:cNvSpPr txBox="1"/>
          <p:nvPr/>
        </p:nvSpPr>
        <p:spPr>
          <a:xfrm>
            <a:off x="2682189" y="1814989"/>
            <a:ext cx="6100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dirty="0">
                <a:latin typeface="Algerian" panose="04020705040A02060702" pitchFamily="82" charset="0"/>
              </a:rPr>
              <a:t>Analysis - </a:t>
            </a:r>
            <a:r>
              <a:rPr lang="en-IN" sz="2000" dirty="0">
                <a:latin typeface="Bodoni MT" panose="02070603080606020203" pitchFamily="18" charset="0"/>
              </a:rPr>
              <a:t>Univariate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1DF727-00CF-F997-B793-0AD2C677EB9D}"/>
              </a:ext>
            </a:extLst>
          </p:cNvPr>
          <p:cNvSpPr txBox="1"/>
          <p:nvPr/>
        </p:nvSpPr>
        <p:spPr>
          <a:xfrm>
            <a:off x="3625369" y="2725501"/>
            <a:ext cx="809468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dirty="0">
                <a:latin typeface="Algerian" panose="04020705040A02060702" pitchFamily="82" charset="0"/>
              </a:rPr>
              <a:t>Business Insight</a:t>
            </a:r>
            <a:br>
              <a:rPr lang="en-IN" sz="2000" dirty="0">
                <a:latin typeface="Bodoni MT" panose="02070603080606020203" pitchFamily="18" charset="0"/>
              </a:rPr>
            </a:br>
            <a:r>
              <a:rPr lang="en-IN" sz="2000" dirty="0">
                <a:latin typeface="Bodoni MT" panose="02070603080606020203" pitchFamily="18" charset="0"/>
              </a:rPr>
              <a:t>Based on my analysis, I observed that most employees fall within a specific monthly income range, while only a small number receive significantly higher salaries. This indicates that the organization's workforce is concentrated in similar salary brackets.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328BDE-E3BC-B206-7D87-51133D64F749}"/>
              </a:ext>
            </a:extLst>
          </p:cNvPr>
          <p:cNvSpPr txBox="1"/>
          <p:nvPr/>
        </p:nvSpPr>
        <p:spPr>
          <a:xfrm>
            <a:off x="2682189" y="4642148"/>
            <a:ext cx="799116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dirty="0">
                <a:latin typeface="Algerian" panose="04020705040A02060702" pitchFamily="82" charset="0"/>
              </a:rPr>
              <a:t>Business Conclusion</a:t>
            </a:r>
            <a:br>
              <a:rPr lang="en-IN" sz="2000" dirty="0">
                <a:latin typeface="Bodoni MT" panose="02070603080606020203" pitchFamily="18" charset="0"/>
              </a:rPr>
            </a:br>
            <a:r>
              <a:rPr lang="en-IN" sz="2000" dirty="0">
                <a:latin typeface="Bodoni MT" panose="02070603080606020203" pitchFamily="18" charset="0"/>
              </a:rPr>
              <a:t>I conclude that understanding the income distribution helps the organization evaluate salary structures, identify pay gaps, and develop fair compensation policies.</a:t>
            </a:r>
          </a:p>
        </p:txBody>
      </p:sp>
    </p:spTree>
    <p:extLst>
      <p:ext uri="{BB962C8B-B14F-4D97-AF65-F5344CB8AC3E}">
        <p14:creationId xmlns:p14="http://schemas.microsoft.com/office/powerpoint/2010/main" val="2253717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DE036F-5CC5-16AD-5E89-FC4BDD0791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" t="8321" b="1595"/>
          <a:stretch>
            <a:fillRect/>
          </a:stretch>
        </p:blipFill>
        <p:spPr>
          <a:xfrm>
            <a:off x="132142" y="1229032"/>
            <a:ext cx="11927715" cy="474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800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B39570-A347-87AB-33CB-5C6B69078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2" y="167148"/>
            <a:ext cx="11742527" cy="653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709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Floating sand in the light">
            <a:extLst>
              <a:ext uri="{FF2B5EF4-FFF2-40B4-BE49-F238E27FC236}">
                <a16:creationId xmlns:a16="http://schemas.microsoft.com/office/drawing/2014/main" id="{7C931279-BBCA-8A66-A01C-3BA4B0FE3168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47" r="25247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CC7386-B869-F68C-7DFA-BAF7E419D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285" y="3097609"/>
            <a:ext cx="6599429" cy="662781"/>
          </a:xfrm>
        </p:spPr>
        <p:txBody>
          <a:bodyPr/>
          <a:lstStyle/>
          <a:p>
            <a:pPr algn="ctr"/>
            <a:r>
              <a:rPr lang="en-IN" b="1" dirty="0"/>
              <a:t>Shubham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2654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58520-8AF2-47D0-40F4-1C954FCBAD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682189" y="4716379"/>
            <a:ext cx="7907153" cy="866915"/>
          </a:xfrm>
        </p:spPr>
        <p:txBody>
          <a:bodyPr>
            <a:noAutofit/>
          </a:bodyPr>
          <a:lstStyle/>
          <a:p>
            <a:r>
              <a:rPr lang="en-US" sz="2000" b="0" dirty="0">
                <a:latin typeface="Algerian" panose="04020705040A02060702" pitchFamily="82" charset="0"/>
              </a:rPr>
              <a:t>Business Conclusion </a:t>
            </a:r>
          </a:p>
          <a:p>
            <a:r>
              <a:rPr lang="en-US" sz="2000" b="0" dirty="0">
                <a:latin typeface="Bodoni MT" panose="02070603080606020203" pitchFamily="18" charset="0"/>
              </a:rPr>
              <a:t>The company should manage overtime to improve employee retention.</a:t>
            </a:r>
            <a:endParaRPr lang="en-IN" sz="2000" b="0" dirty="0">
              <a:latin typeface="Bodoni MT" panose="02070603080606020203" pitchFamily="18" charset="0"/>
            </a:endParaRPr>
          </a:p>
        </p:txBody>
      </p:sp>
      <p:pic>
        <p:nvPicPr>
          <p:cNvPr id="55" name="Picture Placeholder 54" descr="Magnifying glass on clear background">
            <a:extLst>
              <a:ext uri="{FF2B5EF4-FFF2-40B4-BE49-F238E27FC236}">
                <a16:creationId xmlns:a16="http://schemas.microsoft.com/office/drawing/2014/main" id="{6477C82F-AFAA-AA79-75E9-C80DDBDD51AE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8" r="20628"/>
          <a:stretch>
            <a:fillRect/>
          </a:stretch>
        </p:blipFill>
        <p:spPr>
          <a:xfrm>
            <a:off x="1739009" y="2325391"/>
            <a:ext cx="1886360" cy="214466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220D95-582F-0AEC-EBC2-23C3F2E29AEB}"/>
              </a:ext>
            </a:extLst>
          </p:cNvPr>
          <p:cNvSpPr txBox="1"/>
          <p:nvPr/>
        </p:nvSpPr>
        <p:spPr>
          <a:xfrm>
            <a:off x="2682189" y="954858"/>
            <a:ext cx="8758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overtime increase employee attrition?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89A3F5-CA35-6B4C-B677-90B8386C555F}"/>
              </a:ext>
            </a:extLst>
          </p:cNvPr>
          <p:cNvSpPr txBox="1"/>
          <p:nvPr/>
        </p:nvSpPr>
        <p:spPr>
          <a:xfrm>
            <a:off x="2731350" y="1896235"/>
            <a:ext cx="54526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Analysis  - </a:t>
            </a:r>
            <a:r>
              <a:rPr lang="en-US" sz="2000" dirty="0">
                <a:latin typeface="Bodoni MT" panose="02070603080606020203" pitchFamily="18" charset="0"/>
              </a:rPr>
              <a:t>Bivariate</a:t>
            </a:r>
            <a:endParaRPr lang="en-IN" sz="2000" dirty="0">
              <a:latin typeface="Bodoni MT" panose="020706030806060202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14C705-64E0-B79D-505B-FA115D0D872E}"/>
              </a:ext>
            </a:extLst>
          </p:cNvPr>
          <p:cNvSpPr txBox="1"/>
          <p:nvPr/>
        </p:nvSpPr>
        <p:spPr>
          <a:xfrm>
            <a:off x="3625369" y="2923580"/>
            <a:ext cx="71160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Business Insight</a:t>
            </a:r>
          </a:p>
          <a:p>
            <a:r>
              <a:rPr lang="en-US" sz="2000" dirty="0">
                <a:latin typeface="Bodoni MT" panose="02070603080606020203" pitchFamily="18" charset="0"/>
              </a:rPr>
              <a:t>Overtime may increase employee stress and turnover.</a:t>
            </a:r>
            <a:endParaRPr lang="en-IN" sz="20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449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1A21FA-1912-31EE-31DD-CAB324F47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" t="2539" b="3811"/>
          <a:stretch>
            <a:fillRect/>
          </a:stretch>
        </p:blipFill>
        <p:spPr>
          <a:xfrm>
            <a:off x="327659" y="381000"/>
            <a:ext cx="4763313" cy="3390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AAB48E-D484-D3F8-37E3-EB6AF47A0B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" t="1532" r="2146" b="876"/>
          <a:stretch>
            <a:fillRect/>
          </a:stretch>
        </p:blipFill>
        <p:spPr>
          <a:xfrm>
            <a:off x="5309419" y="1504336"/>
            <a:ext cx="6725265" cy="512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366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E3D73-37CB-6CA0-24B7-3E263B788A0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731350" y="4553122"/>
            <a:ext cx="8379102" cy="926260"/>
          </a:xfrm>
        </p:spPr>
        <p:txBody>
          <a:bodyPr/>
          <a:lstStyle/>
          <a:p>
            <a:r>
              <a:rPr lang="en-US" sz="2000" b="0" dirty="0">
                <a:latin typeface="Algerian" panose="04020705040A02060702" pitchFamily="82" charset="0"/>
              </a:rPr>
              <a:t>Business Conclusion</a:t>
            </a:r>
            <a:br>
              <a:rPr lang="en-US" sz="2000" b="0" dirty="0">
                <a:latin typeface="Algerian" panose="04020705040A02060702" pitchFamily="82" charset="0"/>
              </a:rPr>
            </a:br>
            <a:r>
              <a:rPr lang="en-US" sz="2000" b="0" dirty="0">
                <a:latin typeface="Bodoni MT" panose="02070603080606020203" pitchFamily="18" charset="0"/>
                <a:cs typeface="Times New Roman" panose="02020603050405020304" pitchFamily="18" charset="0"/>
              </a:rPr>
              <a:t>The salary structure supports career growth and fair compensation.</a:t>
            </a:r>
            <a:endParaRPr lang="en-IN" sz="2000" b="0" dirty="0"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Placeholder 14" descr="Businessman using digital tablet in meeting">
            <a:extLst>
              <a:ext uri="{FF2B5EF4-FFF2-40B4-BE49-F238E27FC236}">
                <a16:creationId xmlns:a16="http://schemas.microsoft.com/office/drawing/2014/main" id="{79E98C5D-889C-9E0E-6229-6F4BBA0AF624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1" r="20671"/>
          <a:stretch>
            <a:fillRect/>
          </a:stretch>
        </p:blipFill>
        <p:spPr>
          <a:xfrm>
            <a:off x="1788169" y="2262877"/>
            <a:ext cx="1886360" cy="214466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509126-4AFC-B364-1E44-99CEC2E304C9}"/>
              </a:ext>
            </a:extLst>
          </p:cNvPr>
          <p:cNvSpPr txBox="1"/>
          <p:nvPr/>
        </p:nvSpPr>
        <p:spPr>
          <a:xfrm>
            <a:off x="2731350" y="955876"/>
            <a:ext cx="85614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monthly income increase with Job Level ?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F3BEF6-AB83-47D5-50F1-03CF50EF4090}"/>
              </a:ext>
            </a:extLst>
          </p:cNvPr>
          <p:cNvSpPr txBox="1"/>
          <p:nvPr/>
        </p:nvSpPr>
        <p:spPr>
          <a:xfrm>
            <a:off x="2731350" y="1898926"/>
            <a:ext cx="61009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Analysis -  </a:t>
            </a:r>
            <a:r>
              <a:rPr lang="en-US" sz="2000" dirty="0">
                <a:latin typeface="Bodoni MT" panose="02070603080606020203" pitchFamily="18" charset="0"/>
              </a:rPr>
              <a:t>Bivariate</a:t>
            </a:r>
            <a:br>
              <a:rPr lang="en-US" sz="2000" dirty="0">
                <a:latin typeface="Bodoni MT" panose="02070603080606020203" pitchFamily="18" charset="0"/>
              </a:rPr>
            </a:br>
            <a:endParaRPr lang="en-IN" sz="2000" dirty="0">
              <a:latin typeface="Bodoni MT" panose="020706030806060202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BBCB57-C373-B524-0258-EED7AD8C26CB}"/>
              </a:ext>
            </a:extLst>
          </p:cNvPr>
          <p:cNvSpPr txBox="1"/>
          <p:nvPr/>
        </p:nvSpPr>
        <p:spPr>
          <a:xfrm>
            <a:off x="3640558" y="2970763"/>
            <a:ext cx="76522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Business Insight  </a:t>
            </a:r>
          </a:p>
          <a:p>
            <a:r>
              <a:rPr lang="en-US" sz="2000" dirty="0">
                <a:latin typeface="Bodoni MT" panose="02070603080606020203" pitchFamily="18" charset="0"/>
              </a:rPr>
              <a:t>Higher job levels are associated with higher income.</a:t>
            </a:r>
            <a:endParaRPr lang="en-IN" sz="20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75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ADCD545-861A-167A-3137-540C46E62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" t="4336" r="3552" b="3376"/>
          <a:stretch>
            <a:fillRect/>
          </a:stretch>
        </p:blipFill>
        <p:spPr>
          <a:xfrm>
            <a:off x="274319" y="289560"/>
            <a:ext cx="9633440" cy="2750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426ECF-AE6A-1273-AA8A-DE124533B2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2" t="1906" r="10142" b="-1906"/>
          <a:stretch>
            <a:fillRect/>
          </a:stretch>
        </p:blipFill>
        <p:spPr>
          <a:xfrm>
            <a:off x="5801034" y="2216106"/>
            <a:ext cx="6243483" cy="464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7507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F5CB4-32F8-FF3A-6653-724AE8BDC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Placeholder 54" descr="Person wiping table">
            <a:extLst>
              <a:ext uri="{FF2B5EF4-FFF2-40B4-BE49-F238E27FC236}">
                <a16:creationId xmlns:a16="http://schemas.microsoft.com/office/drawing/2014/main" id="{966BA851-7414-D864-F090-ADC2FE30E78A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1" r="20681"/>
          <a:stretch/>
        </p:blipFill>
        <p:spPr>
          <a:xfrm>
            <a:off x="1739009" y="2325391"/>
            <a:ext cx="1886360" cy="214466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A4DAB8-1B1A-4740-B0DF-AFCC976C7368}"/>
              </a:ext>
            </a:extLst>
          </p:cNvPr>
          <p:cNvSpPr txBox="1"/>
          <p:nvPr/>
        </p:nvSpPr>
        <p:spPr>
          <a:xfrm>
            <a:off x="2784987" y="4648990"/>
            <a:ext cx="67621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Business Conclusion </a:t>
            </a:r>
          </a:p>
          <a:p>
            <a:r>
              <a:rPr lang="en-US" sz="2000" dirty="0">
                <a:latin typeface="Bodoni MT" panose="02070603080606020203" pitchFamily="18" charset="0"/>
              </a:rPr>
              <a:t>HR should focus on those job roles to improve employee retention.</a:t>
            </a:r>
            <a:endParaRPr lang="en-IN" sz="2000" dirty="0">
              <a:latin typeface="Bodoni MT" panose="020706030806060202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C10227-057B-A4F3-AD62-3784AD5CE981}"/>
              </a:ext>
            </a:extLst>
          </p:cNvPr>
          <p:cNvSpPr txBox="1"/>
          <p:nvPr/>
        </p:nvSpPr>
        <p:spPr>
          <a:xfrm>
            <a:off x="2682188" y="946044"/>
            <a:ext cx="73663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job roles have the highest attrition rates?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FB7E18-FFB6-74E8-EAB3-76C183CD656D}"/>
              </a:ext>
            </a:extLst>
          </p:cNvPr>
          <p:cNvSpPr txBox="1"/>
          <p:nvPr/>
        </p:nvSpPr>
        <p:spPr>
          <a:xfrm>
            <a:off x="2682189" y="1839679"/>
            <a:ext cx="6100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Analysis - </a:t>
            </a:r>
            <a:r>
              <a:rPr lang="en-US" sz="2000" dirty="0">
                <a:latin typeface="Bodoni MT" panose="02070603080606020203" pitchFamily="18" charset="0"/>
              </a:rPr>
              <a:t>Bivariate</a:t>
            </a:r>
            <a:endParaRPr lang="en-IN" sz="2000" dirty="0">
              <a:latin typeface="Bodoni MT" panose="020706030806060202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B8F43C-82FD-BCCF-DC23-D64B58C1BA22}"/>
              </a:ext>
            </a:extLst>
          </p:cNvPr>
          <p:cNvSpPr txBox="1"/>
          <p:nvPr/>
        </p:nvSpPr>
        <p:spPr>
          <a:xfrm>
            <a:off x="3625369" y="3043782"/>
            <a:ext cx="76817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Business Insight </a:t>
            </a:r>
          </a:p>
          <a:p>
            <a:r>
              <a:rPr lang="en-US" sz="2000" dirty="0">
                <a:latin typeface="Bodoni MT" panose="02070603080606020203" pitchFamily="18" charset="0"/>
              </a:rPr>
              <a:t>Some job roles face higher employee turnover.</a:t>
            </a:r>
            <a:endParaRPr lang="en-IN" sz="20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404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31CBB5-523A-DFE8-017E-16DE8B39BA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5" t="4325" r="34744" b="1465"/>
          <a:stretch>
            <a:fillRect/>
          </a:stretch>
        </p:blipFill>
        <p:spPr>
          <a:xfrm>
            <a:off x="381000" y="243838"/>
            <a:ext cx="4617720" cy="47065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46DD2C-E16B-CA71-5D76-5F606A8C0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658" y="768053"/>
            <a:ext cx="6620799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55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DB4B-4933-C9FD-DBAD-81697937B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Placeholder 54" descr="Person wearing mask in the subway">
            <a:extLst>
              <a:ext uri="{FF2B5EF4-FFF2-40B4-BE49-F238E27FC236}">
                <a16:creationId xmlns:a16="http://schemas.microsoft.com/office/drawing/2014/main" id="{DF02D9B2-95A6-C89B-14C1-01B7A6D30A6E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1" r="20681"/>
          <a:stretch/>
        </p:blipFill>
        <p:spPr>
          <a:xfrm>
            <a:off x="1739009" y="2325391"/>
            <a:ext cx="1886360" cy="214466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D305BA-0DA4-859D-D06B-E9CD1A21A369}"/>
              </a:ext>
            </a:extLst>
          </p:cNvPr>
          <p:cNvSpPr txBox="1"/>
          <p:nvPr/>
        </p:nvSpPr>
        <p:spPr>
          <a:xfrm>
            <a:off x="3625369" y="3043782"/>
            <a:ext cx="81340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Business Insight  </a:t>
            </a:r>
          </a:p>
          <a:p>
            <a:r>
              <a:rPr lang="en-US" sz="2000" dirty="0">
                <a:latin typeface="Bodoni MT" panose="02070603080606020203" pitchFamily="18" charset="0"/>
              </a:rPr>
              <a:t>Distance is not the only reason employees leave.</a:t>
            </a:r>
            <a:endParaRPr lang="en-IN" sz="2000" dirty="0">
              <a:latin typeface="Bodoni MT" panose="0207060308060602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6C7FDE-60B2-38A0-B968-6F7A566F1022}"/>
              </a:ext>
            </a:extLst>
          </p:cNvPr>
          <p:cNvSpPr txBox="1"/>
          <p:nvPr/>
        </p:nvSpPr>
        <p:spPr>
          <a:xfrm>
            <a:off x="2682188" y="1034534"/>
            <a:ext cx="8664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distance from home affect employee attrition?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E53DA-4640-7E35-3103-57BD01BE4618}"/>
              </a:ext>
            </a:extLst>
          </p:cNvPr>
          <p:cNvSpPr txBox="1"/>
          <p:nvPr/>
        </p:nvSpPr>
        <p:spPr>
          <a:xfrm>
            <a:off x="2682188" y="4834507"/>
            <a:ext cx="845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Business Conclusion </a:t>
            </a:r>
          </a:p>
          <a:p>
            <a:r>
              <a:rPr lang="en-US" sz="2000" dirty="0">
                <a:latin typeface="Bodoni MT" panose="02070603080606020203" pitchFamily="18" charset="0"/>
              </a:rPr>
              <a:t>HR should consider other factors along with commuting distance.</a:t>
            </a:r>
            <a:endParaRPr lang="en-IN" sz="20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7140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5B2841-2C07-DD7F-BCD6-4EAB6B08F5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6" t="3172" r="28160" b="3275"/>
          <a:stretch>
            <a:fillRect/>
          </a:stretch>
        </p:blipFill>
        <p:spPr>
          <a:xfrm>
            <a:off x="259385" y="251460"/>
            <a:ext cx="4972850" cy="31775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195F2A-DE50-EE97-9787-33E9CD5745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13" t="1766" r="3826"/>
          <a:stretch>
            <a:fillRect/>
          </a:stretch>
        </p:blipFill>
        <p:spPr>
          <a:xfrm>
            <a:off x="5232235" y="1646902"/>
            <a:ext cx="6860704" cy="494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3622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2303E-5E67-3ED3-5A9B-AC35137C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Placeholder 54" descr="Person reading a book">
            <a:extLst>
              <a:ext uri="{FF2B5EF4-FFF2-40B4-BE49-F238E27FC236}">
                <a16:creationId xmlns:a16="http://schemas.microsoft.com/office/drawing/2014/main" id="{6FC295B8-0161-EB57-B3E2-EF55D96F81FF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0" r="20670"/>
          <a:stretch/>
        </p:blipFill>
        <p:spPr>
          <a:xfrm>
            <a:off x="1739009" y="2325391"/>
            <a:ext cx="1886360" cy="214466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227155-0E09-9B79-1504-266E28FA5B06}"/>
              </a:ext>
            </a:extLst>
          </p:cNvPr>
          <p:cNvSpPr txBox="1"/>
          <p:nvPr/>
        </p:nvSpPr>
        <p:spPr>
          <a:xfrm>
            <a:off x="3625369" y="3075057"/>
            <a:ext cx="75145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Business Insight </a:t>
            </a:r>
          </a:p>
          <a:p>
            <a:r>
              <a:rPr lang="en-US" sz="2000" dirty="0">
                <a:latin typeface="Bodoni MT" panose="02070603080606020203" pitchFamily="18" charset="0"/>
              </a:rPr>
              <a:t>Remote work may improve employee retention.</a:t>
            </a:r>
            <a:endParaRPr lang="en-IN" sz="2000" dirty="0">
              <a:latin typeface="Bodoni MT" panose="0207060308060602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D5E7AE-AA12-70CE-1114-77804D757D2D}"/>
              </a:ext>
            </a:extLst>
          </p:cNvPr>
          <p:cNvSpPr txBox="1"/>
          <p:nvPr/>
        </p:nvSpPr>
        <p:spPr>
          <a:xfrm>
            <a:off x="2682189" y="1052920"/>
            <a:ext cx="81136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remote work reduce employee attrition?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F9E4D-ED17-A9DD-0F4F-5D8D23AD2445}"/>
              </a:ext>
            </a:extLst>
          </p:cNvPr>
          <p:cNvSpPr txBox="1"/>
          <p:nvPr/>
        </p:nvSpPr>
        <p:spPr>
          <a:xfrm>
            <a:off x="2682189" y="1795300"/>
            <a:ext cx="6100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Analysis - </a:t>
            </a:r>
            <a:r>
              <a:rPr lang="en-US" sz="2000" dirty="0">
                <a:latin typeface="Bodoni MT" panose="02070603080606020203" pitchFamily="18" charset="0"/>
              </a:rPr>
              <a:t>Bivariate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202487-7FCB-3BFD-AD63-FF9084E7482B}"/>
              </a:ext>
            </a:extLst>
          </p:cNvPr>
          <p:cNvSpPr txBox="1"/>
          <p:nvPr/>
        </p:nvSpPr>
        <p:spPr>
          <a:xfrm>
            <a:off x="2682189" y="4865782"/>
            <a:ext cx="69927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Business Conclusion </a:t>
            </a:r>
          </a:p>
          <a:p>
            <a:r>
              <a:rPr lang="en-US" sz="2000" dirty="0">
                <a:latin typeface="Bodoni MT" panose="02070603080606020203" pitchFamily="18" charset="0"/>
              </a:rPr>
              <a:t>Providing flexible work options can help reduce attrition.</a:t>
            </a:r>
            <a:endParaRPr lang="en-IN" sz="20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110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7E720E-73D9-0B58-D6C5-B9BEF0CF5D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" t="3749" r="5143" b="4556"/>
          <a:stretch>
            <a:fillRect/>
          </a:stretch>
        </p:blipFill>
        <p:spPr>
          <a:xfrm>
            <a:off x="640080" y="160019"/>
            <a:ext cx="7993380" cy="21199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4B9008-EA78-9C95-B2C3-2F1846074D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24" r="1679" b="1229"/>
          <a:stretch>
            <a:fillRect/>
          </a:stretch>
        </p:blipFill>
        <p:spPr>
          <a:xfrm>
            <a:off x="5304494" y="2069690"/>
            <a:ext cx="6622035" cy="478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08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37A31-5377-2B72-3696-81DA15415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Placeholder 54" descr="Close-up of chess pieces on a chessboard">
            <a:extLst>
              <a:ext uri="{FF2B5EF4-FFF2-40B4-BE49-F238E27FC236}">
                <a16:creationId xmlns:a16="http://schemas.microsoft.com/office/drawing/2014/main" id="{C7F6D41E-2252-38A2-ABCB-DAD1DD840A41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92" t="4060" b="-4060"/>
          <a:stretch>
            <a:fillRect/>
          </a:stretch>
        </p:blipFill>
        <p:spPr>
          <a:xfrm>
            <a:off x="1739009" y="2325391"/>
            <a:ext cx="1886360" cy="214466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D81204-071F-08FB-F7AD-139C1B3CC1CD}"/>
              </a:ext>
            </a:extLst>
          </p:cNvPr>
          <p:cNvSpPr txBox="1"/>
          <p:nvPr/>
        </p:nvSpPr>
        <p:spPr>
          <a:xfrm>
            <a:off x="2682189" y="1003000"/>
            <a:ext cx="871339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Plot age distribution by attrition status</a:t>
            </a:r>
            <a:br>
              <a:rPr lang="en-IN" sz="2400">
                <a:latin typeface="Bodoni MT" panose="02070603080606020203" pitchFamily="18" charset="0"/>
              </a:rPr>
            </a:br>
            <a:endParaRPr lang="en-IN" sz="2400">
              <a:latin typeface="Bodoni MT" panose="02070603080606020203" pitchFamily="18" charset="0"/>
            </a:endParaRPr>
          </a:p>
          <a:p>
            <a:pPr marL="0" indent="0">
              <a:buNone/>
            </a:pPr>
            <a:endParaRPr lang="en-IN" dirty="0">
              <a:latin typeface="Bodoni MT" panose="0207060308060602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33344-9350-070C-8A00-17E3131E92E1}"/>
              </a:ext>
            </a:extLst>
          </p:cNvPr>
          <p:cNvSpPr txBox="1"/>
          <p:nvPr/>
        </p:nvSpPr>
        <p:spPr>
          <a:xfrm>
            <a:off x="2682189" y="1801956"/>
            <a:ext cx="610091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dirty="0">
                <a:latin typeface="Algerian" panose="04020705040A02060702" pitchFamily="82" charset="0"/>
              </a:rPr>
              <a:t>Analysis - </a:t>
            </a:r>
            <a:r>
              <a:rPr lang="en-IN" sz="2000" dirty="0">
                <a:latin typeface="Bodoni MT" panose="02070603080606020203" pitchFamily="18" charset="0"/>
              </a:rPr>
              <a:t>Bivariate</a:t>
            </a:r>
            <a:br>
              <a:rPr lang="en-IN" dirty="0">
                <a:latin typeface="Bodoni MT" panose="02070603080606020203" pitchFamily="18" charset="0"/>
              </a:rPr>
            </a:br>
            <a:endParaRPr lang="en-IN" dirty="0">
              <a:latin typeface="Bodoni MT" panose="020706030806060202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24D420-36CB-8E02-9286-CEA229E42605}"/>
              </a:ext>
            </a:extLst>
          </p:cNvPr>
          <p:cNvSpPr txBox="1"/>
          <p:nvPr/>
        </p:nvSpPr>
        <p:spPr>
          <a:xfrm>
            <a:off x="3625369" y="3002499"/>
            <a:ext cx="75834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lgerian" panose="04020705040A02060702" pitchFamily="82" charset="0"/>
              </a:rPr>
              <a:t>Business Insight</a:t>
            </a:r>
            <a:br>
              <a:rPr lang="en-IN" sz="2000" dirty="0">
                <a:latin typeface="Bodoni MT" panose="02070603080606020203" pitchFamily="18" charset="0"/>
              </a:rPr>
            </a:br>
            <a:r>
              <a:rPr lang="en-US" sz="2000" dirty="0">
                <a:latin typeface="Bodoni MT" panose="02070603080606020203" pitchFamily="18" charset="0"/>
              </a:rPr>
              <a:t>Different age groups have different attrition patterns.</a:t>
            </a:r>
            <a:endParaRPr lang="en-IN" sz="2000" dirty="0">
              <a:latin typeface="Bodoni MT" panose="020706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69BF3F-2C9D-DE5E-7E69-28C1331D7CFC}"/>
              </a:ext>
            </a:extLst>
          </p:cNvPr>
          <p:cNvSpPr txBox="1"/>
          <p:nvPr/>
        </p:nvSpPr>
        <p:spPr>
          <a:xfrm>
            <a:off x="2682189" y="4684454"/>
            <a:ext cx="79223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lgerian" panose="04020705040A02060702" pitchFamily="82" charset="0"/>
              </a:rPr>
              <a:t>Business Conclusion</a:t>
            </a:r>
            <a:br>
              <a:rPr lang="en-IN" sz="2000" dirty="0">
                <a:latin typeface="Bodoni MT" panose="02070603080606020203" pitchFamily="18" charset="0"/>
              </a:rPr>
            </a:br>
            <a:r>
              <a:rPr lang="en-US" sz="2000" dirty="0">
                <a:latin typeface="Bodoni MT" panose="02070603080606020203" pitchFamily="18" charset="0"/>
              </a:rPr>
              <a:t>HR should create age-specific retention strategies.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79662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11A32E-3967-BB61-8502-792867B459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" t="1938" b="2240"/>
          <a:stretch>
            <a:fillRect/>
          </a:stretch>
        </p:blipFill>
        <p:spPr>
          <a:xfrm>
            <a:off x="707923" y="363794"/>
            <a:ext cx="3893696" cy="39525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EDA4DD-3B46-7D8E-15D4-99BE6A0915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7" r="3486" b="1162"/>
          <a:stretch>
            <a:fillRect/>
          </a:stretch>
        </p:blipFill>
        <p:spPr>
          <a:xfrm>
            <a:off x="5142395" y="1418860"/>
            <a:ext cx="6902245" cy="517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85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981B-EDB3-56A4-2CF9-E04559341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7229" y="2766218"/>
            <a:ext cx="7617542" cy="1325563"/>
          </a:xfrm>
        </p:spPr>
        <p:txBody>
          <a:bodyPr/>
          <a:lstStyle/>
          <a:p>
            <a:pPr algn="ctr"/>
            <a:r>
              <a:rPr lang="en-IN" b="1" dirty="0"/>
              <a:t>Sulekha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74197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47598-29AF-BFC5-CB1A-8A589DBA7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Placeholder 54" descr="Hands holding each other">
            <a:extLst>
              <a:ext uri="{FF2B5EF4-FFF2-40B4-BE49-F238E27FC236}">
                <a16:creationId xmlns:a16="http://schemas.microsoft.com/office/drawing/2014/main" id="{0C2E9345-AC11-84A2-01A8-AC4272E2C465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1" r="20681"/>
          <a:stretch/>
        </p:blipFill>
        <p:spPr>
          <a:xfrm>
            <a:off x="1739009" y="2325391"/>
            <a:ext cx="1886360" cy="214466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51F98C-04A3-E41E-8336-A23EF144BFC4}"/>
              </a:ext>
            </a:extLst>
          </p:cNvPr>
          <p:cNvSpPr txBox="1"/>
          <p:nvPr/>
        </p:nvSpPr>
        <p:spPr>
          <a:xfrm>
            <a:off x="3625369" y="2752671"/>
            <a:ext cx="725894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Business Insight</a:t>
            </a:r>
          </a:p>
          <a:p>
            <a:r>
              <a:rPr lang="en-US" sz="2000" dirty="0">
                <a:latin typeface="Bodoni MT" panose="02070603080606020203" pitchFamily="18" charset="0"/>
              </a:rPr>
              <a:t>Overtime shows a relatively stronger relationship with attrition than monthly income, suggesting that workload may have a greater impact on employee turnover.</a:t>
            </a:r>
            <a:br>
              <a:rPr lang="en-US" sz="2000" dirty="0"/>
            </a:br>
            <a:br>
              <a:rPr lang="en-US" sz="2000" dirty="0"/>
            </a:br>
            <a:endParaRPr lang="en-IN" sz="2000" dirty="0">
              <a:latin typeface="Bodoni MT" panose="0207060308060602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CA6A4F-1281-A885-1271-B2F4D0F1D832}"/>
              </a:ext>
            </a:extLst>
          </p:cNvPr>
          <p:cNvSpPr txBox="1"/>
          <p:nvPr/>
        </p:nvSpPr>
        <p:spPr>
          <a:xfrm>
            <a:off x="2682189" y="1049283"/>
            <a:ext cx="8575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factors are most strongly correlated with attrition?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2EBB9A-1E52-85A6-34DF-F7655165884B}"/>
              </a:ext>
            </a:extLst>
          </p:cNvPr>
          <p:cNvSpPr txBox="1"/>
          <p:nvPr/>
        </p:nvSpPr>
        <p:spPr>
          <a:xfrm>
            <a:off x="2682189" y="1835864"/>
            <a:ext cx="6100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Analysis - </a:t>
            </a:r>
            <a:r>
              <a:rPr lang="en-US" sz="2000" dirty="0">
                <a:latin typeface="Bodoni MT" panose="02070603080606020203" pitchFamily="18" charset="0"/>
              </a:rPr>
              <a:t>Multivariate</a:t>
            </a:r>
            <a:endParaRPr lang="en-IN" sz="2000" dirty="0">
              <a:latin typeface="Bodoni MT" panose="020706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C054A1-483B-01C7-7EB8-3294CED79557}"/>
              </a:ext>
            </a:extLst>
          </p:cNvPr>
          <p:cNvSpPr txBox="1"/>
          <p:nvPr/>
        </p:nvSpPr>
        <p:spPr>
          <a:xfrm>
            <a:off x="2682189" y="4668380"/>
            <a:ext cx="76908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Business Conclusion </a:t>
            </a:r>
          </a:p>
          <a:p>
            <a:r>
              <a:rPr lang="en-US" sz="2000" dirty="0">
                <a:latin typeface="Bodoni MT" panose="02070603080606020203" pitchFamily="18" charset="0"/>
              </a:rPr>
              <a:t>Overall, the heatmap provides valuable insights into employee attrition and helps HR make more informed,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36831423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8B631E-7D7D-D656-72B9-FFF3C86682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" t="2440" r="24519" b="2645"/>
          <a:stretch>
            <a:fillRect/>
          </a:stretch>
        </p:blipFill>
        <p:spPr>
          <a:xfrm>
            <a:off x="228600" y="220980"/>
            <a:ext cx="5160806" cy="42443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C7218E-AED8-B2F3-D817-9489F01BB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032" y="1280596"/>
            <a:ext cx="6525536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3250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68FB3-2F1B-BD44-4FDF-FB6F5E5B8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Placeholder 54" descr="Doctors monitoring patient condition on monitors">
            <a:extLst>
              <a:ext uri="{FF2B5EF4-FFF2-40B4-BE49-F238E27FC236}">
                <a16:creationId xmlns:a16="http://schemas.microsoft.com/office/drawing/2014/main" id="{B58BA9A3-3C9F-9231-E7A4-F1D7E7072995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9" r="20689"/>
          <a:stretch/>
        </p:blipFill>
        <p:spPr>
          <a:xfrm>
            <a:off x="1739009" y="2325391"/>
            <a:ext cx="1886360" cy="214466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4F20D1-4B8D-76E3-D7BA-854534642C79}"/>
              </a:ext>
            </a:extLst>
          </p:cNvPr>
          <p:cNvSpPr txBox="1"/>
          <p:nvPr/>
        </p:nvSpPr>
        <p:spPr>
          <a:xfrm>
            <a:off x="3625369" y="2889893"/>
            <a:ext cx="789803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Business Insight </a:t>
            </a:r>
          </a:p>
          <a:p>
            <a:r>
              <a:rPr lang="en-US" sz="2000" dirty="0">
                <a:latin typeface="Bodoni MT" panose="02070603080606020203" pitchFamily="18" charset="0"/>
              </a:rPr>
              <a:t>Leadership opportunities may support career growth, but promotions also depend on other factors such as performance, experience, and skills.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04542-D144-1852-781F-A67275C70B19}"/>
              </a:ext>
            </a:extLst>
          </p:cNvPr>
          <p:cNvSpPr txBox="1"/>
          <p:nvPr/>
        </p:nvSpPr>
        <p:spPr>
          <a:xfrm>
            <a:off x="2682189" y="979717"/>
            <a:ext cx="95098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employees with leadership opportunities receive more promotions?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6BD0E-99D7-F9FF-FF71-FDEA1CBE8FF1}"/>
              </a:ext>
            </a:extLst>
          </p:cNvPr>
          <p:cNvSpPr txBox="1"/>
          <p:nvPr/>
        </p:nvSpPr>
        <p:spPr>
          <a:xfrm>
            <a:off x="2682189" y="1766553"/>
            <a:ext cx="6100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Analysis -</a:t>
            </a:r>
            <a:r>
              <a:rPr lang="en-US" sz="2000" dirty="0"/>
              <a:t> </a:t>
            </a:r>
            <a:r>
              <a:rPr lang="en-US" sz="2000" dirty="0">
                <a:latin typeface="Bodoni MT" panose="02070603080606020203" pitchFamily="18" charset="0"/>
              </a:rPr>
              <a:t>Bivariate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37F76E-2565-11E0-52BE-5574677EEDF6}"/>
              </a:ext>
            </a:extLst>
          </p:cNvPr>
          <p:cNvSpPr txBox="1"/>
          <p:nvPr/>
        </p:nvSpPr>
        <p:spPr>
          <a:xfrm>
            <a:off x="2682189" y="4628786"/>
            <a:ext cx="81726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Business Conclusion </a:t>
            </a:r>
          </a:p>
          <a:p>
            <a:r>
              <a:rPr lang="en-US" sz="2000" dirty="0">
                <a:latin typeface="Bodoni MT" panose="02070603080606020203" pitchFamily="18" charset="0"/>
              </a:rPr>
              <a:t>In conclusion, leadership opportunities are helpful for employee development, but they are not the only factor that influences promotions.</a:t>
            </a:r>
            <a:endParaRPr lang="en-IN" sz="20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8294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D84F96-433E-774F-0AE5-4147E9B686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" t="2421" b="2236"/>
          <a:stretch>
            <a:fillRect/>
          </a:stretch>
        </p:blipFill>
        <p:spPr>
          <a:xfrm>
            <a:off x="98323" y="176981"/>
            <a:ext cx="5369790" cy="3097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7310A0-009A-AD94-7E5E-BA2C3F42B0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8" r="1280"/>
          <a:stretch>
            <a:fillRect/>
          </a:stretch>
        </p:blipFill>
        <p:spPr>
          <a:xfrm>
            <a:off x="5556603" y="1437519"/>
            <a:ext cx="6635397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1038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C09D3-5F2A-59A9-25CE-F4A27CEF2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Placeholder 54" descr="Man wearing mask in an office">
            <a:extLst>
              <a:ext uri="{FF2B5EF4-FFF2-40B4-BE49-F238E27FC236}">
                <a16:creationId xmlns:a16="http://schemas.microsoft.com/office/drawing/2014/main" id="{AB69707F-0D3E-D7D5-D03E-2C29B7808919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1" r="20681"/>
          <a:stretch/>
        </p:blipFill>
        <p:spPr>
          <a:xfrm>
            <a:off x="1739009" y="2260313"/>
            <a:ext cx="1886360" cy="214466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26AD9B-5F89-C4A6-635D-F584C26ADD33}"/>
              </a:ext>
            </a:extLst>
          </p:cNvPr>
          <p:cNvSpPr txBox="1"/>
          <p:nvPr/>
        </p:nvSpPr>
        <p:spPr>
          <a:xfrm>
            <a:off x="2682189" y="4597687"/>
            <a:ext cx="84085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  <a:cs typeface="Times New Roman" panose="02020603050405020304" pitchFamily="18" charset="0"/>
              </a:rPr>
              <a:t>Business Conclusion </a:t>
            </a:r>
            <a:br>
              <a:rPr lang="en-US" sz="2000" dirty="0">
                <a:latin typeface="Bodoni MT" panose="02070603080606020203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Bodoni MT" panose="02070603080606020203" pitchFamily="18" charset="0"/>
                <a:cs typeface="Times New Roman" panose="02020603050405020304" pitchFamily="18" charset="0"/>
              </a:rPr>
              <a:t>I conclude that maintaining a strong company reputation is important for improving employee retention and reducing turnover.</a:t>
            </a:r>
            <a:endParaRPr lang="en-IN" sz="2000" dirty="0"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853A2-1706-9D75-399B-81004BFFE243}"/>
              </a:ext>
            </a:extLst>
          </p:cNvPr>
          <p:cNvSpPr txBox="1"/>
          <p:nvPr/>
        </p:nvSpPr>
        <p:spPr>
          <a:xfrm>
            <a:off x="2682189" y="975540"/>
            <a:ext cx="79661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company reputation affect employee retention?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307471-2662-9193-61B4-6981243401F7}"/>
              </a:ext>
            </a:extLst>
          </p:cNvPr>
          <p:cNvSpPr txBox="1"/>
          <p:nvPr/>
        </p:nvSpPr>
        <p:spPr>
          <a:xfrm>
            <a:off x="2682189" y="1797653"/>
            <a:ext cx="6100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  <a:cs typeface="Times New Roman" panose="02020603050405020304" pitchFamily="18" charset="0"/>
              </a:rPr>
              <a:t>Analysis - </a:t>
            </a:r>
            <a:r>
              <a:rPr lang="en-US" sz="2000" dirty="0">
                <a:latin typeface="Bodoni MT" panose="02070603080606020203" pitchFamily="18" charset="0"/>
                <a:cs typeface="Times New Roman" panose="02020603050405020304" pitchFamily="18" charset="0"/>
              </a:rPr>
              <a:t>Bivariate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941851-0622-708F-3050-72AF5B7F790C}"/>
              </a:ext>
            </a:extLst>
          </p:cNvPr>
          <p:cNvSpPr txBox="1"/>
          <p:nvPr/>
        </p:nvSpPr>
        <p:spPr>
          <a:xfrm>
            <a:off x="3625369" y="2889893"/>
            <a:ext cx="7810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  <a:cs typeface="Times New Roman" panose="02020603050405020304" pitchFamily="18" charset="0"/>
              </a:rPr>
              <a:t>Business Insight </a:t>
            </a:r>
            <a:br>
              <a:rPr lang="en-US" sz="2000" dirty="0">
                <a:latin typeface="Bodoni MT" panose="02070603080606020203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Bodoni MT" panose="02070603080606020203" pitchFamily="18" charset="0"/>
                <a:cs typeface="Times New Roman" panose="02020603050405020304" pitchFamily="18" charset="0"/>
              </a:rPr>
              <a:t>A positive company reputation increases employee trust, satisfaction, and loyalty, which helps reduce attrition.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404430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B8E848-4F84-319E-3930-C0E4FD23BE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0" t="3160" b="7575"/>
          <a:stretch>
            <a:fillRect/>
          </a:stretch>
        </p:blipFill>
        <p:spPr>
          <a:xfrm>
            <a:off x="353961" y="363795"/>
            <a:ext cx="4440195" cy="1573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45BF1D-4196-CDB3-D1BE-EDA41564F9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6" t="1608" r="1606" b="2633"/>
          <a:stretch>
            <a:fillRect/>
          </a:stretch>
        </p:blipFill>
        <p:spPr>
          <a:xfrm>
            <a:off x="5157952" y="1602659"/>
            <a:ext cx="6961238" cy="505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47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7F086-0D1F-4244-0995-8A1C853C6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Placeholder 54" descr="Fashion designers working together in their studio">
            <a:extLst>
              <a:ext uri="{FF2B5EF4-FFF2-40B4-BE49-F238E27FC236}">
                <a16:creationId xmlns:a16="http://schemas.microsoft.com/office/drawing/2014/main" id="{5BDC3B1B-58DC-DF72-3C47-39EED5517B3D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9" r="20689"/>
          <a:stretch/>
        </p:blipFill>
        <p:spPr>
          <a:xfrm>
            <a:off x="1739009" y="2325391"/>
            <a:ext cx="1886360" cy="214466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4D3C92-C8CE-CD0F-0D28-0EA11A3A9110}"/>
              </a:ext>
            </a:extLst>
          </p:cNvPr>
          <p:cNvSpPr txBox="1"/>
          <p:nvPr/>
        </p:nvSpPr>
        <p:spPr>
          <a:xfrm>
            <a:off x="2682189" y="4538666"/>
            <a:ext cx="84774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  <a:cs typeface="Times New Roman" panose="02020603050405020304" pitchFamily="18" charset="0"/>
              </a:rPr>
              <a:t>Business Conclusion </a:t>
            </a:r>
            <a:br>
              <a:rPr lang="en-US" sz="2000" dirty="0">
                <a:latin typeface="Bodoni MT" panose="02070603080606020203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Bodoni MT" panose="02070603080606020203" pitchFamily="18" charset="0"/>
                <a:cs typeface="Times New Roman" panose="02020603050405020304" pitchFamily="18" charset="0"/>
              </a:rPr>
              <a:t>I conclude that performance rating is an important factor in employee compensation. Organizations should maintain fair performance evaluation systems to ensure deserving employees receive appropriate salary growth.</a:t>
            </a:r>
            <a:endParaRPr lang="en-IN" sz="2000" dirty="0"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6059FA-2A75-2A75-C2D8-12E136086ACF}"/>
              </a:ext>
            </a:extLst>
          </p:cNvPr>
          <p:cNvSpPr txBox="1"/>
          <p:nvPr/>
        </p:nvSpPr>
        <p:spPr>
          <a:xfrm>
            <a:off x="2725991" y="977736"/>
            <a:ext cx="85319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performance ratings related to monthly income?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86919-5DB5-62B6-C70C-DED9F029E64A}"/>
              </a:ext>
            </a:extLst>
          </p:cNvPr>
          <p:cNvSpPr txBox="1"/>
          <p:nvPr/>
        </p:nvSpPr>
        <p:spPr>
          <a:xfrm>
            <a:off x="2725991" y="1882118"/>
            <a:ext cx="6100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  <a:cs typeface="Times New Roman" panose="02020603050405020304" pitchFamily="18" charset="0"/>
              </a:rPr>
              <a:t>Analysis - </a:t>
            </a:r>
            <a:r>
              <a:rPr lang="en-US" sz="2000" dirty="0">
                <a:latin typeface="Bodoni MT" panose="02070603080606020203" pitchFamily="18" charset="0"/>
                <a:cs typeface="Times New Roman" panose="02020603050405020304" pitchFamily="18" charset="0"/>
              </a:rPr>
              <a:t>Bivariate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53F6A-C8E7-C299-5855-63AE3FE361C6}"/>
              </a:ext>
            </a:extLst>
          </p:cNvPr>
          <p:cNvSpPr txBox="1"/>
          <p:nvPr/>
        </p:nvSpPr>
        <p:spPr>
          <a:xfrm>
            <a:off x="3660057" y="2812062"/>
            <a:ext cx="79866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  <a:cs typeface="Times New Roman" panose="02020603050405020304" pitchFamily="18" charset="0"/>
              </a:rPr>
              <a:t>Business Insight </a:t>
            </a:r>
            <a:br>
              <a:rPr lang="en-US" sz="2000" dirty="0">
                <a:latin typeface="Bodoni MT" panose="02070603080606020203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Bodoni MT" panose="02070603080606020203" pitchFamily="18" charset="0"/>
                <a:cs typeface="Times New Roman" panose="02020603050405020304" pitchFamily="18" charset="0"/>
              </a:rPr>
              <a:t>Employees who perform well are often rewarded with better compensation, which helps motivate them and improve productivity.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298082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99F38C3-D4FC-A9C0-1515-20289E76D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0" r="3522"/>
          <a:stretch>
            <a:fillRect/>
          </a:stretch>
        </p:blipFill>
        <p:spPr>
          <a:xfrm>
            <a:off x="5188100" y="1346767"/>
            <a:ext cx="6866249" cy="5511233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099A56-BA7E-1285-2231-A76C2C33D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2" t="1621" r="5028" b="1238"/>
          <a:stretch>
            <a:fillRect/>
          </a:stretch>
        </p:blipFill>
        <p:spPr>
          <a:xfrm>
            <a:off x="76200" y="78658"/>
            <a:ext cx="4712281" cy="471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3282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BB2B6-9573-4393-72D7-54580E46D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Placeholder 54" descr="Businessman using digital tablet in meeting">
            <a:extLst>
              <a:ext uri="{FF2B5EF4-FFF2-40B4-BE49-F238E27FC236}">
                <a16:creationId xmlns:a16="http://schemas.microsoft.com/office/drawing/2014/main" id="{A5687CDF-873C-2C8B-154B-64CE8F298DEF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9" r="20689"/>
          <a:stretch/>
        </p:blipFill>
        <p:spPr>
          <a:xfrm>
            <a:off x="1739009" y="2325391"/>
            <a:ext cx="1886360" cy="214466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52DF69-AB77-C49A-DCC0-2124252942B6}"/>
              </a:ext>
            </a:extLst>
          </p:cNvPr>
          <p:cNvSpPr txBox="1"/>
          <p:nvPr/>
        </p:nvSpPr>
        <p:spPr>
          <a:xfrm>
            <a:off x="2682189" y="1024360"/>
            <a:ext cx="91558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factors most influence employee promotions?</a:t>
            </a:r>
          </a:p>
          <a:p>
            <a:pPr marL="0" indent="0">
              <a:buNone/>
            </a:pPr>
            <a:endParaRPr lang="en-IN" dirty="0">
              <a:latin typeface="Bodoni MT" panose="0207060308060602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64EDB-CE5D-4EA3-7550-E47ED0F29B93}"/>
              </a:ext>
            </a:extLst>
          </p:cNvPr>
          <p:cNvSpPr txBox="1"/>
          <p:nvPr/>
        </p:nvSpPr>
        <p:spPr>
          <a:xfrm>
            <a:off x="2682189" y="1786661"/>
            <a:ext cx="6100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dirty="0">
                <a:latin typeface="Algerian" panose="04020705040A02060702" pitchFamily="82" charset="0"/>
              </a:rPr>
              <a:t>Analysis - </a:t>
            </a:r>
            <a:r>
              <a:rPr lang="en-IN" sz="2000" dirty="0">
                <a:latin typeface="Bodoni MT" panose="02070603080606020203" pitchFamily="18" charset="0"/>
              </a:rPr>
              <a:t>Multivariate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445317-712D-EDD5-AF78-82854BF5906C}"/>
              </a:ext>
            </a:extLst>
          </p:cNvPr>
          <p:cNvSpPr txBox="1"/>
          <p:nvPr/>
        </p:nvSpPr>
        <p:spPr>
          <a:xfrm>
            <a:off x="3625369" y="2793497"/>
            <a:ext cx="76129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lgerian" panose="04020705040A02060702" pitchFamily="82" charset="0"/>
              </a:rPr>
              <a:t>Business Insight </a:t>
            </a:r>
            <a:br>
              <a:rPr lang="en-IN" sz="2000" dirty="0">
                <a:latin typeface="Bodoni MT" panose="02070603080606020203" pitchFamily="18" charset="0"/>
              </a:rPr>
            </a:br>
            <a:r>
              <a:rPr lang="en-US" sz="2000" dirty="0">
                <a:latin typeface="Bodoni MT" panose="02070603080606020203" pitchFamily="18" charset="0"/>
              </a:rPr>
              <a:t>Employee performance plays an important role in promotion decisions. Higher-performing employees are more likely to be promoted.</a:t>
            </a:r>
            <a:endParaRPr lang="en-IN" sz="2000" dirty="0">
              <a:latin typeface="Bodoni MT" panose="020706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030BBB-40E3-027A-BD44-E314F388A83E}"/>
              </a:ext>
            </a:extLst>
          </p:cNvPr>
          <p:cNvSpPr txBox="1"/>
          <p:nvPr/>
        </p:nvSpPr>
        <p:spPr>
          <a:xfrm>
            <a:off x="2682189" y="4564320"/>
            <a:ext cx="82906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lgerian" panose="04020705040A02060702" pitchFamily="82" charset="0"/>
              </a:rPr>
              <a:t>Business Conclusion </a:t>
            </a:r>
            <a:br>
              <a:rPr lang="en-IN" sz="2000" dirty="0">
                <a:latin typeface="Bodoni MT" panose="02070603080606020203" pitchFamily="18" charset="0"/>
              </a:rPr>
            </a:br>
            <a:r>
              <a:rPr lang="en-US" sz="2000" dirty="0">
                <a:latin typeface="Bodoni MT" panose="02070603080606020203" pitchFamily="18" charset="0"/>
              </a:rPr>
              <a:t>I conclude that organizations should encourage strong performance through regular feedback, training, and recognition, as good performance increases promotion opportunities.</a:t>
            </a:r>
            <a:endParaRPr lang="en-IN" sz="20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5697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A80F38-0F25-B05D-6B86-7EE323E514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" t="2143" b="1657"/>
          <a:stretch>
            <a:fillRect/>
          </a:stretch>
        </p:blipFill>
        <p:spPr>
          <a:xfrm>
            <a:off x="98322" y="78658"/>
            <a:ext cx="5160518" cy="48571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47CBA9-BFE3-FB7A-5DF7-5B6B22B970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70"/>
          <a:stretch>
            <a:fillRect/>
          </a:stretch>
        </p:blipFill>
        <p:spPr>
          <a:xfrm>
            <a:off x="5330747" y="1153214"/>
            <a:ext cx="6861253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6518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99B3-8F1E-BDBC-494D-143430866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Placeholder 54" descr="Scientist viewing DNA test results on a computer screen in the laboratory">
            <a:extLst>
              <a:ext uri="{FF2B5EF4-FFF2-40B4-BE49-F238E27FC236}">
                <a16:creationId xmlns:a16="http://schemas.microsoft.com/office/drawing/2014/main" id="{CFBF2370-78A9-55ED-DAE1-E0CFE02A7AB0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53" r="17553"/>
          <a:stretch/>
        </p:blipFill>
        <p:spPr>
          <a:xfrm>
            <a:off x="1739009" y="2325391"/>
            <a:ext cx="1886360" cy="214466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AD21A7-0D83-2344-3BD3-5CCDEF97A349}"/>
              </a:ext>
            </a:extLst>
          </p:cNvPr>
          <p:cNvSpPr txBox="1"/>
          <p:nvPr/>
        </p:nvSpPr>
        <p:spPr>
          <a:xfrm>
            <a:off x="2682188" y="950447"/>
            <a:ext cx="93524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heatmap showing correlations among numerical features.</a:t>
            </a:r>
          </a:p>
          <a:p>
            <a:pPr marL="0" indent="0">
              <a:buNone/>
            </a:pPr>
            <a:endParaRPr lang="en-IN" dirty="0">
              <a:latin typeface="Bodoni MT" panose="0207060308060602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AD4E4-BE2D-8898-805E-B5CFFE97EA25}"/>
              </a:ext>
            </a:extLst>
          </p:cNvPr>
          <p:cNvSpPr txBox="1"/>
          <p:nvPr/>
        </p:nvSpPr>
        <p:spPr>
          <a:xfrm>
            <a:off x="2682188" y="1808398"/>
            <a:ext cx="6100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dirty="0">
                <a:latin typeface="Algerian" panose="04020705040A02060702" pitchFamily="82" charset="0"/>
              </a:rPr>
              <a:t>Analysis - </a:t>
            </a:r>
            <a:r>
              <a:rPr lang="en-IN" sz="2000" dirty="0">
                <a:latin typeface="Bodoni MT" panose="02070603080606020203" pitchFamily="18" charset="0"/>
              </a:rPr>
              <a:t>Multivariate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541605-0D7B-4452-EB70-989133D26C64}"/>
              </a:ext>
            </a:extLst>
          </p:cNvPr>
          <p:cNvSpPr txBox="1"/>
          <p:nvPr/>
        </p:nvSpPr>
        <p:spPr>
          <a:xfrm>
            <a:off x="3625369" y="2736005"/>
            <a:ext cx="84093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lgerian" panose="04020705040A02060702" pitchFamily="82" charset="0"/>
              </a:rPr>
              <a:t>Business Insight</a:t>
            </a:r>
            <a:br>
              <a:rPr lang="en-IN" sz="2000" dirty="0">
                <a:latin typeface="Bodoni MT" panose="02070603080606020203" pitchFamily="18" charset="0"/>
              </a:rPr>
            </a:br>
            <a:r>
              <a:rPr lang="en-US" sz="2000" dirty="0">
                <a:latin typeface="Bodoni MT" panose="02070603080606020203" pitchFamily="18" charset="0"/>
              </a:rPr>
              <a:t>Since these numerical features have weak correlations, HR should consider multiple factors together instead of relying on only one variable when making decisions.</a:t>
            </a:r>
            <a:endParaRPr lang="en-IN" sz="2000" dirty="0">
              <a:latin typeface="Bodoni MT" panose="020706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01F19-4E74-5E3B-48F0-19B777A17173}"/>
              </a:ext>
            </a:extLst>
          </p:cNvPr>
          <p:cNvSpPr txBox="1"/>
          <p:nvPr/>
        </p:nvSpPr>
        <p:spPr>
          <a:xfrm>
            <a:off x="2682188" y="4470058"/>
            <a:ext cx="88412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lgerian" panose="04020705040A02060702" pitchFamily="82" charset="0"/>
              </a:rPr>
              <a:t>Business Conclusion</a:t>
            </a:r>
            <a:br>
              <a:rPr lang="en-IN" sz="2000" dirty="0">
                <a:latin typeface="Bodoni MT" panose="02070603080606020203" pitchFamily="18" charset="0"/>
              </a:rPr>
            </a:br>
            <a:r>
              <a:rPr lang="en-US" sz="2000" dirty="0">
                <a:latin typeface="Bodoni MT" panose="02070603080606020203" pitchFamily="18" charset="0"/>
              </a:rPr>
              <a:t>I conclude that the heatmap helps identify relationships among numerical features, and in this dataset, the variables show very weak correlations, indicating that each factor influences employee analysis independently.</a:t>
            </a:r>
            <a:endParaRPr lang="en-IN" sz="20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3578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D6B9BD-EC5D-E4EF-1451-F935567D4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9" t="1195" b="2242"/>
          <a:stretch>
            <a:fillRect/>
          </a:stretch>
        </p:blipFill>
        <p:spPr>
          <a:xfrm>
            <a:off x="1012723" y="521110"/>
            <a:ext cx="3341362" cy="5604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7247E7-CDA5-74C0-6D1A-F59D83BFF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375" y="930612"/>
            <a:ext cx="6430272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36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38D46F9-E549-0A6F-3061-AA8C42481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492" t="14295" r="10140" b="11132"/>
          <a:stretch>
            <a:fillRect/>
          </a:stretch>
        </p:blipFill>
        <p:spPr>
          <a:xfrm>
            <a:off x="2462980" y="139820"/>
            <a:ext cx="7266039" cy="657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57541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605</TotalTime>
  <Words>1011</Words>
  <Application>Microsoft Office PowerPoint</Application>
  <PresentationFormat>Widescreen</PresentationFormat>
  <Paragraphs>106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Abadi</vt:lpstr>
      <vt:lpstr>Algerian</vt:lpstr>
      <vt:lpstr>Aptos</vt:lpstr>
      <vt:lpstr>Arial</vt:lpstr>
      <vt:lpstr>Bodoni MT</vt:lpstr>
      <vt:lpstr>Posterama Text Black</vt:lpstr>
      <vt:lpstr>Posterama Text SemiBold</vt:lpstr>
      <vt:lpstr>Times New Roman</vt:lpstr>
      <vt:lpstr>Wingdings</vt:lpstr>
      <vt:lpstr>Custom​​</vt:lpstr>
      <vt:lpstr>Capstone project</vt:lpstr>
      <vt:lpstr>Meet our team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Shubham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Sulekha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Patnaik</dc:creator>
  <cp:lastModifiedBy>Shubham Patnaik</cp:lastModifiedBy>
  <cp:revision>67</cp:revision>
  <dcterms:created xsi:type="dcterms:W3CDTF">2026-07-08T18:33:11Z</dcterms:created>
  <dcterms:modified xsi:type="dcterms:W3CDTF">2026-08-27T12:53:23Z</dcterms:modified>
</cp:coreProperties>
</file>